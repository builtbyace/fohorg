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0" r:id="rId3"/>
    <p:sldId id="283" r:id="rId4"/>
    <p:sldId id="290" r:id="rId5"/>
    <p:sldId id="291" r:id="rId6"/>
    <p:sldId id="292" r:id="rId7"/>
    <p:sldId id="289" r:id="rId8"/>
    <p:sldId id="357" r:id="rId9"/>
    <p:sldId id="333" r:id="rId10"/>
    <p:sldId id="342" r:id="rId11"/>
    <p:sldId id="344" r:id="rId12"/>
    <p:sldId id="345" r:id="rId13"/>
    <p:sldId id="346" r:id="rId14"/>
    <p:sldId id="351" r:id="rId15"/>
    <p:sldId id="341" r:id="rId16"/>
    <p:sldId id="307" r:id="rId17"/>
    <p:sldId id="349" r:id="rId18"/>
    <p:sldId id="358" r:id="rId19"/>
    <p:sldId id="359" r:id="rId20"/>
    <p:sldId id="361" r:id="rId21"/>
    <p:sldId id="308" r:id="rId22"/>
    <p:sldId id="353" r:id="rId23"/>
    <p:sldId id="314" r:id="rId24"/>
    <p:sldId id="315" r:id="rId25"/>
    <p:sldId id="311" r:id="rId26"/>
    <p:sldId id="362" r:id="rId27"/>
    <p:sldId id="356" r:id="rId28"/>
    <p:sldId id="31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DD53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D6249-CA36-446A-80E0-13CA75C462E7}" v="5" dt="2024-05-01T11:04:20.1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2" autoAdjust="0"/>
    <p:restoredTop sz="94660"/>
  </p:normalViewPr>
  <p:slideViewPr>
    <p:cSldViewPr snapToGrid="0">
      <p:cViewPr varScale="1">
        <p:scale>
          <a:sx n="69" d="100"/>
          <a:sy n="69" d="100"/>
        </p:scale>
        <p:origin x="696"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becca Wambua" userId="0b3c93eb-6c3a-4bb3-80cd-795ced15ed44" providerId="ADAL" clId="{4C1D6249-CA36-446A-80E0-13CA75C462E7}"/>
    <pc:docChg chg="undo custSel addSld delSld modSld sldOrd addSection delSection modSection">
      <pc:chgData name="Rebecca Wambua" userId="0b3c93eb-6c3a-4bb3-80cd-795ced15ed44" providerId="ADAL" clId="{4C1D6249-CA36-446A-80E0-13CA75C462E7}" dt="2024-05-02T09:05:34.520" v="2644" actId="20577"/>
      <pc:docMkLst>
        <pc:docMk/>
      </pc:docMkLst>
      <pc:sldChg chg="modSp mod">
        <pc:chgData name="Rebecca Wambua" userId="0b3c93eb-6c3a-4bb3-80cd-795ced15ed44" providerId="ADAL" clId="{4C1D6249-CA36-446A-80E0-13CA75C462E7}" dt="2024-05-01T10:46:39.137" v="1298" actId="20577"/>
        <pc:sldMkLst>
          <pc:docMk/>
          <pc:sldMk cId="0" sldId="256"/>
        </pc:sldMkLst>
        <pc:spChg chg="mod">
          <ac:chgData name="Rebecca Wambua" userId="0b3c93eb-6c3a-4bb3-80cd-795ced15ed44" providerId="ADAL" clId="{4C1D6249-CA36-446A-80E0-13CA75C462E7}" dt="2024-05-01T10:46:39.137" v="1298" actId="20577"/>
          <ac:spMkLst>
            <pc:docMk/>
            <pc:sldMk cId="0" sldId="256"/>
            <ac:spMk id="4" creationId="{00000000-0000-0000-0000-000000000000}"/>
          </ac:spMkLst>
        </pc:spChg>
        <pc:picChg chg="mod">
          <ac:chgData name="Rebecca Wambua" userId="0b3c93eb-6c3a-4bb3-80cd-795ced15ed44" providerId="ADAL" clId="{4C1D6249-CA36-446A-80E0-13CA75C462E7}" dt="2024-05-01T10:44:39.320" v="1251" actId="1076"/>
          <ac:picMkLst>
            <pc:docMk/>
            <pc:sldMk cId="0" sldId="256"/>
            <ac:picMk id="10" creationId="{00000000-0000-0000-0000-000000000000}"/>
          </ac:picMkLst>
        </pc:picChg>
      </pc:sldChg>
      <pc:sldChg chg="modSp mod ord">
        <pc:chgData name="Rebecca Wambua" userId="0b3c93eb-6c3a-4bb3-80cd-795ced15ed44" providerId="ADAL" clId="{4C1D6249-CA36-446A-80E0-13CA75C462E7}" dt="2024-05-02T07:04:13.462" v="2571" actId="114"/>
        <pc:sldMkLst>
          <pc:docMk/>
          <pc:sldMk cId="0" sldId="283"/>
        </pc:sldMkLst>
        <pc:spChg chg="mod">
          <ac:chgData name="Rebecca Wambua" userId="0b3c93eb-6c3a-4bb3-80cd-795ced15ed44" providerId="ADAL" clId="{4C1D6249-CA36-446A-80E0-13CA75C462E7}" dt="2024-05-01T10:48:23.822" v="1303" actId="114"/>
          <ac:spMkLst>
            <pc:docMk/>
            <pc:sldMk cId="0" sldId="283"/>
            <ac:spMk id="2" creationId="{00000000-0000-0000-0000-000000000000}"/>
          </ac:spMkLst>
        </pc:spChg>
        <pc:spChg chg="mod">
          <ac:chgData name="Rebecca Wambua" userId="0b3c93eb-6c3a-4bb3-80cd-795ced15ed44" providerId="ADAL" clId="{4C1D6249-CA36-446A-80E0-13CA75C462E7}" dt="2024-05-02T07:04:13.462" v="2571" actId="114"/>
          <ac:spMkLst>
            <pc:docMk/>
            <pc:sldMk cId="0" sldId="283"/>
            <ac:spMk id="3" creationId="{00000000-0000-0000-0000-000000000000}"/>
          </ac:spMkLst>
        </pc:spChg>
      </pc:sldChg>
      <pc:sldChg chg="modSp mod">
        <pc:chgData name="Rebecca Wambua" userId="0b3c93eb-6c3a-4bb3-80cd-795ced15ed44" providerId="ADAL" clId="{4C1D6249-CA36-446A-80E0-13CA75C462E7}" dt="2024-05-02T07:04:45.207" v="2573" actId="2711"/>
        <pc:sldMkLst>
          <pc:docMk/>
          <pc:sldMk cId="0" sldId="289"/>
        </pc:sldMkLst>
        <pc:spChg chg="mod">
          <ac:chgData name="Rebecca Wambua" userId="0b3c93eb-6c3a-4bb3-80cd-795ced15ed44" providerId="ADAL" clId="{4C1D6249-CA36-446A-80E0-13CA75C462E7}" dt="2024-05-02T07:04:33.469" v="2572" actId="2711"/>
          <ac:spMkLst>
            <pc:docMk/>
            <pc:sldMk cId="0" sldId="289"/>
            <ac:spMk id="2" creationId="{00000000-0000-0000-0000-000000000000}"/>
          </ac:spMkLst>
        </pc:spChg>
        <pc:spChg chg="mod">
          <ac:chgData name="Rebecca Wambua" userId="0b3c93eb-6c3a-4bb3-80cd-795ced15ed44" providerId="ADAL" clId="{4C1D6249-CA36-446A-80E0-13CA75C462E7}" dt="2024-05-02T07:04:45.207" v="2573" actId="2711"/>
          <ac:spMkLst>
            <pc:docMk/>
            <pc:sldMk cId="0" sldId="289"/>
            <ac:spMk id="18" creationId="{00000000-0000-0000-0000-000000000000}"/>
          </ac:spMkLst>
        </pc:spChg>
      </pc:sldChg>
      <pc:sldChg chg="delSp modSp mod">
        <pc:chgData name="Rebecca Wambua" userId="0b3c93eb-6c3a-4bb3-80cd-795ced15ed44" providerId="ADAL" clId="{4C1D6249-CA36-446A-80E0-13CA75C462E7}" dt="2024-05-02T08:14:21.933" v="2594" actId="14100"/>
        <pc:sldMkLst>
          <pc:docMk/>
          <pc:sldMk cId="0" sldId="292"/>
        </pc:sldMkLst>
        <pc:spChg chg="del mod">
          <ac:chgData name="Rebecca Wambua" userId="0b3c93eb-6c3a-4bb3-80cd-795ced15ed44" providerId="ADAL" clId="{4C1D6249-CA36-446A-80E0-13CA75C462E7}" dt="2024-05-02T08:14:08.517" v="2590" actId="478"/>
          <ac:spMkLst>
            <pc:docMk/>
            <pc:sldMk cId="0" sldId="292"/>
            <ac:spMk id="6" creationId="{00000000-0000-0000-0000-000000000000}"/>
          </ac:spMkLst>
        </pc:spChg>
        <pc:spChg chg="mod">
          <ac:chgData name="Rebecca Wambua" userId="0b3c93eb-6c3a-4bb3-80cd-795ced15ed44" providerId="ADAL" clId="{4C1D6249-CA36-446A-80E0-13CA75C462E7}" dt="2024-05-02T08:14:17.115" v="2593" actId="14100"/>
          <ac:spMkLst>
            <pc:docMk/>
            <pc:sldMk cId="0" sldId="292"/>
            <ac:spMk id="7" creationId="{00000000-0000-0000-0000-000000000000}"/>
          </ac:spMkLst>
        </pc:spChg>
        <pc:picChg chg="mod">
          <ac:chgData name="Rebecca Wambua" userId="0b3c93eb-6c3a-4bb3-80cd-795ced15ed44" providerId="ADAL" clId="{4C1D6249-CA36-446A-80E0-13CA75C462E7}" dt="2024-05-02T08:14:21.933" v="2594" actId="14100"/>
          <ac:picMkLst>
            <pc:docMk/>
            <pc:sldMk cId="0" sldId="292"/>
            <ac:picMk id="4" creationId="{00000000-0000-0000-0000-000000000000}"/>
          </ac:picMkLst>
        </pc:picChg>
      </pc:sldChg>
      <pc:sldChg chg="ord">
        <pc:chgData name="Rebecca Wambua" userId="0b3c93eb-6c3a-4bb3-80cd-795ced15ed44" providerId="ADAL" clId="{4C1D6249-CA36-446A-80E0-13CA75C462E7}" dt="2024-05-02T07:06:10.365" v="2583"/>
        <pc:sldMkLst>
          <pc:docMk/>
          <pc:sldMk cId="0" sldId="307"/>
        </pc:sldMkLst>
      </pc:sldChg>
      <pc:sldChg chg="modSp mod">
        <pc:chgData name="Rebecca Wambua" userId="0b3c93eb-6c3a-4bb3-80cd-795ced15ed44" providerId="ADAL" clId="{4C1D6249-CA36-446A-80E0-13CA75C462E7}" dt="2024-05-02T07:08:17.596" v="2584" actId="20577"/>
        <pc:sldMkLst>
          <pc:docMk/>
          <pc:sldMk cId="0" sldId="308"/>
        </pc:sldMkLst>
        <pc:spChg chg="mod">
          <ac:chgData name="Rebecca Wambua" userId="0b3c93eb-6c3a-4bb3-80cd-795ced15ed44" providerId="ADAL" clId="{4C1D6249-CA36-446A-80E0-13CA75C462E7}" dt="2024-05-02T07:08:17.596" v="2584" actId="20577"/>
          <ac:spMkLst>
            <pc:docMk/>
            <pc:sldMk cId="0" sldId="308"/>
            <ac:spMk id="2" creationId="{00000000-0000-0000-0000-000000000000}"/>
          </ac:spMkLst>
        </pc:spChg>
      </pc:sldChg>
      <pc:sldChg chg="modSp mod">
        <pc:chgData name="Rebecca Wambua" userId="0b3c93eb-6c3a-4bb3-80cd-795ced15ed44" providerId="ADAL" clId="{4C1D6249-CA36-446A-80E0-13CA75C462E7}" dt="2024-05-02T06:55:21.146" v="2220" actId="5793"/>
        <pc:sldMkLst>
          <pc:docMk/>
          <pc:sldMk cId="0" sldId="333"/>
        </pc:sldMkLst>
        <pc:spChg chg="mod">
          <ac:chgData name="Rebecca Wambua" userId="0b3c93eb-6c3a-4bb3-80cd-795ced15ed44" providerId="ADAL" clId="{4C1D6249-CA36-446A-80E0-13CA75C462E7}" dt="2024-05-02T06:55:21.146" v="2220" actId="5793"/>
          <ac:spMkLst>
            <pc:docMk/>
            <pc:sldMk cId="0" sldId="333"/>
            <ac:spMk id="3" creationId="{00000000-0000-0000-0000-000000000000}"/>
          </ac:spMkLst>
        </pc:spChg>
        <pc:spChg chg="mod">
          <ac:chgData name="Rebecca Wambua" userId="0b3c93eb-6c3a-4bb3-80cd-795ced15ed44" providerId="ADAL" clId="{4C1D6249-CA36-446A-80E0-13CA75C462E7}" dt="2024-05-02T06:48:38.813" v="1744" actId="20577"/>
          <ac:spMkLst>
            <pc:docMk/>
            <pc:sldMk cId="0" sldId="333"/>
            <ac:spMk id="7" creationId="{00000000-0000-0000-0000-000000000000}"/>
          </ac:spMkLst>
        </pc:spChg>
      </pc:sldChg>
      <pc:sldChg chg="modSp mod ord">
        <pc:chgData name="Rebecca Wambua" userId="0b3c93eb-6c3a-4bb3-80cd-795ced15ed44" providerId="ADAL" clId="{4C1D6249-CA36-446A-80E0-13CA75C462E7}" dt="2024-05-02T07:05:57.250" v="2581"/>
        <pc:sldMkLst>
          <pc:docMk/>
          <pc:sldMk cId="0" sldId="341"/>
        </pc:sldMkLst>
        <pc:spChg chg="mod">
          <ac:chgData name="Rebecca Wambua" userId="0b3c93eb-6c3a-4bb3-80cd-795ced15ed44" providerId="ADAL" clId="{4C1D6249-CA36-446A-80E0-13CA75C462E7}" dt="2024-05-01T11:21:18.243" v="1739" actId="108"/>
          <ac:spMkLst>
            <pc:docMk/>
            <pc:sldMk cId="0" sldId="341"/>
            <ac:spMk id="2" creationId="{00000000-0000-0000-0000-000000000000}"/>
          </ac:spMkLst>
        </pc:spChg>
      </pc:sldChg>
      <pc:sldChg chg="addSp delSp modSp mod">
        <pc:chgData name="Rebecca Wambua" userId="0b3c93eb-6c3a-4bb3-80cd-795ced15ed44" providerId="ADAL" clId="{4C1D6249-CA36-446A-80E0-13CA75C462E7}" dt="2024-05-01T10:53:18.663" v="1357" actId="20577"/>
        <pc:sldMkLst>
          <pc:docMk/>
          <pc:sldMk cId="0" sldId="342"/>
        </pc:sldMkLst>
        <pc:spChg chg="mod">
          <ac:chgData name="Rebecca Wambua" userId="0b3c93eb-6c3a-4bb3-80cd-795ced15ed44" providerId="ADAL" clId="{4C1D6249-CA36-446A-80E0-13CA75C462E7}" dt="2024-05-01T10:53:18.663" v="1357" actId="20577"/>
          <ac:spMkLst>
            <pc:docMk/>
            <pc:sldMk cId="0" sldId="342"/>
            <ac:spMk id="8" creationId="{00000000-0000-0000-0000-000000000000}"/>
          </ac:spMkLst>
        </pc:spChg>
        <pc:picChg chg="add del mod">
          <ac:chgData name="Rebecca Wambua" userId="0b3c93eb-6c3a-4bb3-80cd-795ced15ed44" providerId="ADAL" clId="{4C1D6249-CA36-446A-80E0-13CA75C462E7}" dt="2024-05-01T10:52:08.460" v="1316" actId="478"/>
          <ac:picMkLst>
            <pc:docMk/>
            <pc:sldMk cId="0" sldId="342"/>
            <ac:picMk id="7" creationId="{00000000-0000-0000-0000-000000000000}"/>
          </ac:picMkLst>
        </pc:picChg>
      </pc:sldChg>
      <pc:sldChg chg="delSp modSp mod">
        <pc:chgData name="Rebecca Wambua" userId="0b3c93eb-6c3a-4bb3-80cd-795ced15ed44" providerId="ADAL" clId="{4C1D6249-CA36-446A-80E0-13CA75C462E7}" dt="2024-05-02T08:16:32.080" v="2610" actId="20577"/>
        <pc:sldMkLst>
          <pc:docMk/>
          <pc:sldMk cId="0" sldId="344"/>
        </pc:sldMkLst>
        <pc:spChg chg="mod">
          <ac:chgData name="Rebecca Wambua" userId="0b3c93eb-6c3a-4bb3-80cd-795ced15ed44" providerId="ADAL" clId="{4C1D6249-CA36-446A-80E0-13CA75C462E7}" dt="2024-05-02T08:16:32.080" v="2610" actId="20577"/>
          <ac:spMkLst>
            <pc:docMk/>
            <pc:sldMk cId="0" sldId="344"/>
            <ac:spMk id="3" creationId="{00000000-0000-0000-0000-000000000000}"/>
          </ac:spMkLst>
        </pc:spChg>
        <pc:picChg chg="del">
          <ac:chgData name="Rebecca Wambua" userId="0b3c93eb-6c3a-4bb3-80cd-795ced15ed44" providerId="ADAL" clId="{4C1D6249-CA36-446A-80E0-13CA75C462E7}" dt="2024-05-01T10:54:13.915" v="1358" actId="478"/>
          <ac:picMkLst>
            <pc:docMk/>
            <pc:sldMk cId="0" sldId="344"/>
            <ac:picMk id="4" creationId="{00000000-0000-0000-0000-000000000000}"/>
          </ac:picMkLst>
        </pc:picChg>
      </pc:sldChg>
      <pc:sldChg chg="delSp modSp mod">
        <pc:chgData name="Rebecca Wambua" userId="0b3c93eb-6c3a-4bb3-80cd-795ced15ed44" providerId="ADAL" clId="{4C1D6249-CA36-446A-80E0-13CA75C462E7}" dt="2024-05-02T08:17:10.051" v="2625" actId="313"/>
        <pc:sldMkLst>
          <pc:docMk/>
          <pc:sldMk cId="0" sldId="345"/>
        </pc:sldMkLst>
        <pc:spChg chg="mod">
          <ac:chgData name="Rebecca Wambua" userId="0b3c93eb-6c3a-4bb3-80cd-795ced15ed44" providerId="ADAL" clId="{4C1D6249-CA36-446A-80E0-13CA75C462E7}" dt="2024-05-02T08:17:10.051" v="2625" actId="313"/>
          <ac:spMkLst>
            <pc:docMk/>
            <pc:sldMk cId="0" sldId="345"/>
            <ac:spMk id="2" creationId="{00000000-0000-0000-0000-000000000000}"/>
          </ac:spMkLst>
        </pc:spChg>
        <pc:spChg chg="mod">
          <ac:chgData name="Rebecca Wambua" userId="0b3c93eb-6c3a-4bb3-80cd-795ced15ed44" providerId="ADAL" clId="{4C1D6249-CA36-446A-80E0-13CA75C462E7}" dt="2024-05-01T10:59:00.084" v="1389" actId="14100"/>
          <ac:spMkLst>
            <pc:docMk/>
            <pc:sldMk cId="0" sldId="345"/>
            <ac:spMk id="3" creationId="{00000000-0000-0000-0000-000000000000}"/>
          </ac:spMkLst>
        </pc:spChg>
        <pc:picChg chg="del mod">
          <ac:chgData name="Rebecca Wambua" userId="0b3c93eb-6c3a-4bb3-80cd-795ced15ed44" providerId="ADAL" clId="{4C1D6249-CA36-446A-80E0-13CA75C462E7}" dt="2024-05-01T10:58:46.970" v="1387" actId="478"/>
          <ac:picMkLst>
            <pc:docMk/>
            <pc:sldMk cId="0" sldId="345"/>
            <ac:picMk id="4" creationId="{00000000-0000-0000-0000-000000000000}"/>
          </ac:picMkLst>
        </pc:picChg>
      </pc:sldChg>
      <pc:sldChg chg="addSp delSp modSp mod modClrScheme chgLayout">
        <pc:chgData name="Rebecca Wambua" userId="0b3c93eb-6c3a-4bb3-80cd-795ced15ed44" providerId="ADAL" clId="{4C1D6249-CA36-446A-80E0-13CA75C462E7}" dt="2024-05-02T08:17:29.118" v="2627" actId="20577"/>
        <pc:sldMkLst>
          <pc:docMk/>
          <pc:sldMk cId="0" sldId="346"/>
        </pc:sldMkLst>
        <pc:spChg chg="add del mod">
          <ac:chgData name="Rebecca Wambua" userId="0b3c93eb-6c3a-4bb3-80cd-795ced15ed44" providerId="ADAL" clId="{4C1D6249-CA36-446A-80E0-13CA75C462E7}" dt="2024-05-01T11:00:24.293" v="1404" actId="6264"/>
          <ac:spMkLst>
            <pc:docMk/>
            <pc:sldMk cId="0" sldId="346"/>
            <ac:spMk id="2" creationId="{B2F1210E-EDD6-D73A-A5DC-42A13A5372D4}"/>
          </ac:spMkLst>
        </pc:spChg>
        <pc:spChg chg="mod ord">
          <ac:chgData name="Rebecca Wambua" userId="0b3c93eb-6c3a-4bb3-80cd-795ced15ed44" providerId="ADAL" clId="{4C1D6249-CA36-446A-80E0-13CA75C462E7}" dt="2024-05-01T11:01:06.756" v="1415" actId="14100"/>
          <ac:spMkLst>
            <pc:docMk/>
            <pc:sldMk cId="0" sldId="346"/>
            <ac:spMk id="3" creationId="{00000000-0000-0000-0000-000000000000}"/>
          </ac:spMkLst>
        </pc:spChg>
        <pc:spChg chg="add mod ord">
          <ac:chgData name="Rebecca Wambua" userId="0b3c93eb-6c3a-4bb3-80cd-795ced15ed44" providerId="ADAL" clId="{4C1D6249-CA36-446A-80E0-13CA75C462E7}" dt="2024-05-02T08:17:29.118" v="2627" actId="20577"/>
          <ac:spMkLst>
            <pc:docMk/>
            <pc:sldMk cId="0" sldId="346"/>
            <ac:spMk id="6" creationId="{ADCD3F4C-B73D-0296-83B7-A4839DB5317C}"/>
          </ac:spMkLst>
        </pc:spChg>
        <pc:spChg chg="add mod ord">
          <ac:chgData name="Rebecca Wambua" userId="0b3c93eb-6c3a-4bb3-80cd-795ced15ed44" providerId="ADAL" clId="{4C1D6249-CA36-446A-80E0-13CA75C462E7}" dt="2024-05-01T11:01:01.995" v="1413" actId="700"/>
          <ac:spMkLst>
            <pc:docMk/>
            <pc:sldMk cId="0" sldId="346"/>
            <ac:spMk id="7" creationId="{5BDDCF27-325B-442D-23A2-6F66B35EA6AF}"/>
          </ac:spMkLst>
        </pc:spChg>
        <pc:picChg chg="add del mod">
          <ac:chgData name="Rebecca Wambua" userId="0b3c93eb-6c3a-4bb3-80cd-795ced15ed44" providerId="ADAL" clId="{4C1D6249-CA36-446A-80E0-13CA75C462E7}" dt="2024-05-01T10:59:24.815" v="1395" actId="478"/>
          <ac:picMkLst>
            <pc:docMk/>
            <pc:sldMk cId="0" sldId="346"/>
            <ac:picMk id="5" creationId="{00000000-0000-0000-0000-000000000000}"/>
          </ac:picMkLst>
        </pc:picChg>
      </pc:sldChg>
      <pc:sldChg chg="modSp mod">
        <pc:chgData name="Rebecca Wambua" userId="0b3c93eb-6c3a-4bb3-80cd-795ced15ed44" providerId="ADAL" clId="{4C1D6249-CA36-446A-80E0-13CA75C462E7}" dt="2024-05-02T08:04:38.230" v="2586" actId="113"/>
        <pc:sldMkLst>
          <pc:docMk/>
          <pc:sldMk cId="0" sldId="349"/>
        </pc:sldMkLst>
        <pc:spChg chg="mod">
          <ac:chgData name="Rebecca Wambua" userId="0b3c93eb-6c3a-4bb3-80cd-795ced15ed44" providerId="ADAL" clId="{4C1D6249-CA36-446A-80E0-13CA75C462E7}" dt="2024-05-02T08:04:38.230" v="2586" actId="113"/>
          <ac:spMkLst>
            <pc:docMk/>
            <pc:sldMk cId="0" sldId="349"/>
            <ac:spMk id="2" creationId="{00000000-0000-0000-0000-000000000000}"/>
          </ac:spMkLst>
        </pc:spChg>
        <pc:spChg chg="mod">
          <ac:chgData name="Rebecca Wambua" userId="0b3c93eb-6c3a-4bb3-80cd-795ced15ed44" providerId="ADAL" clId="{4C1D6249-CA36-446A-80E0-13CA75C462E7}" dt="2024-05-01T09:32:16.492" v="341" actId="20578"/>
          <ac:spMkLst>
            <pc:docMk/>
            <pc:sldMk cId="0" sldId="349"/>
            <ac:spMk id="3" creationId="{00000000-0000-0000-0000-000000000000}"/>
          </ac:spMkLst>
        </pc:spChg>
      </pc:sldChg>
      <pc:sldChg chg="modSp del mod ord">
        <pc:chgData name="Rebecca Wambua" userId="0b3c93eb-6c3a-4bb3-80cd-795ced15ed44" providerId="ADAL" clId="{4C1D6249-CA36-446A-80E0-13CA75C462E7}" dt="2024-05-01T10:18:09.514" v="968" actId="2696"/>
        <pc:sldMkLst>
          <pc:docMk/>
          <pc:sldMk cId="0" sldId="350"/>
        </pc:sldMkLst>
        <pc:spChg chg="mod">
          <ac:chgData name="Rebecca Wambua" userId="0b3c93eb-6c3a-4bb3-80cd-795ced15ed44" providerId="ADAL" clId="{4C1D6249-CA36-446A-80E0-13CA75C462E7}" dt="2024-05-01T09:35:01.470" v="407" actId="27636"/>
          <ac:spMkLst>
            <pc:docMk/>
            <pc:sldMk cId="0" sldId="350"/>
            <ac:spMk id="2" creationId="{00000000-0000-0000-0000-000000000000}"/>
          </ac:spMkLst>
        </pc:spChg>
        <pc:spChg chg="mod">
          <ac:chgData name="Rebecca Wambua" userId="0b3c93eb-6c3a-4bb3-80cd-795ced15ed44" providerId="ADAL" clId="{4C1D6249-CA36-446A-80E0-13CA75C462E7}" dt="2024-05-01T10:12:42.058" v="960" actId="20577"/>
          <ac:spMkLst>
            <pc:docMk/>
            <pc:sldMk cId="0" sldId="350"/>
            <ac:spMk id="3" creationId="{00000000-0000-0000-0000-000000000000}"/>
          </ac:spMkLst>
        </pc:spChg>
      </pc:sldChg>
      <pc:sldChg chg="delSp modSp mod ord">
        <pc:chgData name="Rebecca Wambua" userId="0b3c93eb-6c3a-4bb3-80cd-795ced15ed44" providerId="ADAL" clId="{4C1D6249-CA36-446A-80E0-13CA75C462E7}" dt="2024-05-02T07:05:48.657" v="2579"/>
        <pc:sldMkLst>
          <pc:docMk/>
          <pc:sldMk cId="0" sldId="351"/>
        </pc:sldMkLst>
        <pc:spChg chg="mod">
          <ac:chgData name="Rebecca Wambua" userId="0b3c93eb-6c3a-4bb3-80cd-795ced15ed44" providerId="ADAL" clId="{4C1D6249-CA36-446A-80E0-13CA75C462E7}" dt="2024-05-01T10:22:39.543" v="1120" actId="20577"/>
          <ac:spMkLst>
            <pc:docMk/>
            <pc:sldMk cId="0" sldId="351"/>
            <ac:spMk id="2" creationId="{00000000-0000-0000-0000-000000000000}"/>
          </ac:spMkLst>
        </pc:spChg>
        <pc:spChg chg="mod">
          <ac:chgData name="Rebecca Wambua" userId="0b3c93eb-6c3a-4bb3-80cd-795ced15ed44" providerId="ADAL" clId="{4C1D6249-CA36-446A-80E0-13CA75C462E7}" dt="2024-05-01T10:23:15.267" v="1124" actId="20577"/>
          <ac:spMkLst>
            <pc:docMk/>
            <pc:sldMk cId="0" sldId="351"/>
            <ac:spMk id="3" creationId="{00000000-0000-0000-0000-000000000000}"/>
          </ac:spMkLst>
        </pc:spChg>
        <pc:picChg chg="del">
          <ac:chgData name="Rebecca Wambua" userId="0b3c93eb-6c3a-4bb3-80cd-795ced15ed44" providerId="ADAL" clId="{4C1D6249-CA36-446A-80E0-13CA75C462E7}" dt="2024-05-01T10:14:30.496" v="967" actId="478"/>
          <ac:picMkLst>
            <pc:docMk/>
            <pc:sldMk cId="0" sldId="351"/>
            <ac:picMk id="4" creationId="{00000000-0000-0000-0000-000000000000}"/>
          </ac:picMkLst>
        </pc:picChg>
      </pc:sldChg>
      <pc:sldChg chg="modSp mod">
        <pc:chgData name="Rebecca Wambua" userId="0b3c93eb-6c3a-4bb3-80cd-795ced15ed44" providerId="ADAL" clId="{4C1D6249-CA36-446A-80E0-13CA75C462E7}" dt="2024-05-02T07:08:29.543" v="2585"/>
        <pc:sldMkLst>
          <pc:docMk/>
          <pc:sldMk cId="0" sldId="353"/>
        </pc:sldMkLst>
        <pc:spChg chg="mod">
          <ac:chgData name="Rebecca Wambua" userId="0b3c93eb-6c3a-4bb3-80cd-795ced15ed44" providerId="ADAL" clId="{4C1D6249-CA36-446A-80E0-13CA75C462E7}" dt="2024-05-02T07:08:29.543" v="2585"/>
          <ac:spMkLst>
            <pc:docMk/>
            <pc:sldMk cId="0" sldId="353"/>
            <ac:spMk id="4" creationId="{00000000-0000-0000-0000-000000000000}"/>
          </ac:spMkLst>
        </pc:spChg>
        <pc:spChg chg="mod">
          <ac:chgData name="Rebecca Wambua" userId="0b3c93eb-6c3a-4bb3-80cd-795ced15ed44" providerId="ADAL" clId="{4C1D6249-CA36-446A-80E0-13CA75C462E7}" dt="2024-05-01T11:08:15.290" v="1538" actId="27636"/>
          <ac:spMkLst>
            <pc:docMk/>
            <pc:sldMk cId="0" sldId="353"/>
            <ac:spMk id="6" creationId="{00000000-0000-0000-0000-000000000000}"/>
          </ac:spMkLst>
        </pc:spChg>
      </pc:sldChg>
      <pc:sldChg chg="del">
        <pc:chgData name="Rebecca Wambua" userId="0b3c93eb-6c3a-4bb3-80cd-795ced15ed44" providerId="ADAL" clId="{4C1D6249-CA36-446A-80E0-13CA75C462E7}" dt="2024-05-01T11:09:56.203" v="1539" actId="2696"/>
        <pc:sldMkLst>
          <pc:docMk/>
          <pc:sldMk cId="0" sldId="354"/>
        </pc:sldMkLst>
      </pc:sldChg>
      <pc:sldChg chg="modSp mod">
        <pc:chgData name="Rebecca Wambua" userId="0b3c93eb-6c3a-4bb3-80cd-795ced15ed44" providerId="ADAL" clId="{4C1D6249-CA36-446A-80E0-13CA75C462E7}" dt="2024-05-01T11:13:58.433" v="1736" actId="20577"/>
        <pc:sldMkLst>
          <pc:docMk/>
          <pc:sldMk cId="0" sldId="356"/>
        </pc:sldMkLst>
        <pc:spChg chg="mod">
          <ac:chgData name="Rebecca Wambua" userId="0b3c93eb-6c3a-4bb3-80cd-795ced15ed44" providerId="ADAL" clId="{4C1D6249-CA36-446A-80E0-13CA75C462E7}" dt="2024-05-01T11:13:58.433" v="1736" actId="20577"/>
          <ac:spMkLst>
            <pc:docMk/>
            <pc:sldMk cId="0" sldId="356"/>
            <ac:spMk id="3" creationId="{00000000-0000-0000-0000-000000000000}"/>
          </ac:spMkLst>
        </pc:spChg>
      </pc:sldChg>
      <pc:sldChg chg="modSp mod">
        <pc:chgData name="Rebecca Wambua" userId="0b3c93eb-6c3a-4bb3-80cd-795ced15ed44" providerId="ADAL" clId="{4C1D6249-CA36-446A-80E0-13CA75C462E7}" dt="2024-05-02T07:05:07.352" v="2575" actId="2711"/>
        <pc:sldMkLst>
          <pc:docMk/>
          <pc:sldMk cId="2303197881" sldId="357"/>
        </pc:sldMkLst>
        <pc:spChg chg="mod">
          <ac:chgData name="Rebecca Wambua" userId="0b3c93eb-6c3a-4bb3-80cd-795ced15ed44" providerId="ADAL" clId="{4C1D6249-CA36-446A-80E0-13CA75C462E7}" dt="2024-05-02T07:04:57.699" v="2574" actId="2711"/>
          <ac:spMkLst>
            <pc:docMk/>
            <pc:sldMk cId="2303197881" sldId="357"/>
            <ac:spMk id="2" creationId="{D044F953-330B-5213-21E5-E5EBC4477F4C}"/>
          </ac:spMkLst>
        </pc:spChg>
        <pc:spChg chg="mod">
          <ac:chgData name="Rebecca Wambua" userId="0b3c93eb-6c3a-4bb3-80cd-795ced15ed44" providerId="ADAL" clId="{4C1D6249-CA36-446A-80E0-13CA75C462E7}" dt="2024-05-02T07:05:07.352" v="2575" actId="2711"/>
          <ac:spMkLst>
            <pc:docMk/>
            <pc:sldMk cId="2303197881" sldId="357"/>
            <ac:spMk id="4" creationId="{71A9E4A9-4A18-9EFA-8DF5-9F8FD7D0B196}"/>
          </ac:spMkLst>
        </pc:spChg>
      </pc:sldChg>
      <pc:sldChg chg="modSp new mod">
        <pc:chgData name="Rebecca Wambua" userId="0b3c93eb-6c3a-4bb3-80cd-795ced15ed44" providerId="ADAL" clId="{4C1D6249-CA36-446A-80E0-13CA75C462E7}" dt="2024-05-02T07:00:09.202" v="2544" actId="20577"/>
        <pc:sldMkLst>
          <pc:docMk/>
          <pc:sldMk cId="932459803" sldId="358"/>
        </pc:sldMkLst>
        <pc:spChg chg="mod">
          <ac:chgData name="Rebecca Wambua" userId="0b3c93eb-6c3a-4bb3-80cd-795ced15ed44" providerId="ADAL" clId="{4C1D6249-CA36-446A-80E0-13CA75C462E7}" dt="2024-05-02T06:56:29.681" v="2247" actId="113"/>
          <ac:spMkLst>
            <pc:docMk/>
            <pc:sldMk cId="932459803" sldId="358"/>
            <ac:spMk id="2" creationId="{B95BF3AE-9137-C2B1-C1EE-B482157BB3CA}"/>
          </ac:spMkLst>
        </pc:spChg>
        <pc:spChg chg="mod">
          <ac:chgData name="Rebecca Wambua" userId="0b3c93eb-6c3a-4bb3-80cd-795ced15ed44" providerId="ADAL" clId="{4C1D6249-CA36-446A-80E0-13CA75C462E7}" dt="2024-05-02T07:00:09.202" v="2544" actId="20577"/>
          <ac:spMkLst>
            <pc:docMk/>
            <pc:sldMk cId="932459803" sldId="358"/>
            <ac:spMk id="3" creationId="{0E7949B9-0A12-A037-B70A-A09863AD7D75}"/>
          </ac:spMkLst>
        </pc:spChg>
      </pc:sldChg>
      <pc:sldChg chg="addSp modSp new mod ord">
        <pc:chgData name="Rebecca Wambua" userId="0b3c93eb-6c3a-4bb3-80cd-795ced15ed44" providerId="ADAL" clId="{4C1D6249-CA36-446A-80E0-13CA75C462E7}" dt="2024-05-01T11:02:20.572" v="1423"/>
        <pc:sldMkLst>
          <pc:docMk/>
          <pc:sldMk cId="528234432" sldId="359"/>
        </pc:sldMkLst>
        <pc:spChg chg="mod">
          <ac:chgData name="Rebecca Wambua" userId="0b3c93eb-6c3a-4bb3-80cd-795ced15ed44" providerId="ADAL" clId="{4C1D6249-CA36-446A-80E0-13CA75C462E7}" dt="2024-05-01T10:29:25.601" v="1140"/>
          <ac:spMkLst>
            <pc:docMk/>
            <pc:sldMk cId="528234432" sldId="359"/>
            <ac:spMk id="2" creationId="{7DB9236C-8135-6DCD-2528-ACB4FCFC91A6}"/>
          </ac:spMkLst>
        </pc:spChg>
        <pc:spChg chg="mod">
          <ac:chgData name="Rebecca Wambua" userId="0b3c93eb-6c3a-4bb3-80cd-795ced15ed44" providerId="ADAL" clId="{4C1D6249-CA36-446A-80E0-13CA75C462E7}" dt="2024-05-01T11:01:57.609" v="1419" actId="5793"/>
          <ac:spMkLst>
            <pc:docMk/>
            <pc:sldMk cId="528234432" sldId="359"/>
            <ac:spMk id="3" creationId="{DBDCCEA3-459F-3A84-F9C9-655008035288}"/>
          </ac:spMkLst>
        </pc:spChg>
        <pc:graphicFrameChg chg="add mod modGraphic">
          <ac:chgData name="Rebecca Wambua" userId="0b3c93eb-6c3a-4bb3-80cd-795ced15ed44" providerId="ADAL" clId="{4C1D6249-CA36-446A-80E0-13CA75C462E7}" dt="2024-05-01T10:29:00.715" v="1137" actId="14100"/>
          <ac:graphicFrameMkLst>
            <pc:docMk/>
            <pc:sldMk cId="528234432" sldId="359"/>
            <ac:graphicFrameMk id="4" creationId="{CDF4AB16-60A9-C646-653A-1FDC667A7820}"/>
          </ac:graphicFrameMkLst>
        </pc:graphicFrameChg>
      </pc:sldChg>
      <pc:sldChg chg="new del">
        <pc:chgData name="Rebecca Wambua" userId="0b3c93eb-6c3a-4bb3-80cd-795ced15ed44" providerId="ADAL" clId="{4C1D6249-CA36-446A-80E0-13CA75C462E7}" dt="2024-05-01T10:34:53.867" v="1147" actId="47"/>
        <pc:sldMkLst>
          <pc:docMk/>
          <pc:sldMk cId="2870835438" sldId="360"/>
        </pc:sldMkLst>
      </pc:sldChg>
      <pc:sldChg chg="addSp delSp modSp new mod ord modClrScheme chgLayout">
        <pc:chgData name="Rebecca Wambua" userId="0b3c93eb-6c3a-4bb3-80cd-795ced15ed44" providerId="ADAL" clId="{4C1D6249-CA36-446A-80E0-13CA75C462E7}" dt="2024-05-01T11:05:36.899" v="1474" actId="478"/>
        <pc:sldMkLst>
          <pc:docMk/>
          <pc:sldMk cId="1802788490" sldId="361"/>
        </pc:sldMkLst>
        <pc:spChg chg="mod ord">
          <ac:chgData name="Rebecca Wambua" userId="0b3c93eb-6c3a-4bb3-80cd-795ced15ed44" providerId="ADAL" clId="{4C1D6249-CA36-446A-80E0-13CA75C462E7}" dt="2024-05-01T11:04:57.230" v="1444" actId="122"/>
          <ac:spMkLst>
            <pc:docMk/>
            <pc:sldMk cId="1802788490" sldId="361"/>
            <ac:spMk id="2" creationId="{78B2C282-5EA2-A484-3DC8-3FCE1158BCDC}"/>
          </ac:spMkLst>
        </pc:spChg>
        <pc:spChg chg="mod ord">
          <ac:chgData name="Rebecca Wambua" userId="0b3c93eb-6c3a-4bb3-80cd-795ced15ed44" providerId="ADAL" clId="{4C1D6249-CA36-446A-80E0-13CA75C462E7}" dt="2024-05-01T11:05:19.849" v="1470" actId="20577"/>
          <ac:spMkLst>
            <pc:docMk/>
            <pc:sldMk cId="1802788490" sldId="361"/>
            <ac:spMk id="3" creationId="{87E06933-E508-3253-0AD5-03FB443243D3}"/>
          </ac:spMkLst>
        </pc:spChg>
        <pc:spChg chg="del mod">
          <ac:chgData name="Rebecca Wambua" userId="0b3c93eb-6c3a-4bb3-80cd-795ced15ed44" providerId="ADAL" clId="{4C1D6249-CA36-446A-80E0-13CA75C462E7}" dt="2024-05-01T10:35:53.098" v="1155"/>
          <ac:spMkLst>
            <pc:docMk/>
            <pc:sldMk cId="1802788490" sldId="361"/>
            <ac:spMk id="4" creationId="{0136C1BC-7454-F0B8-E4D4-2C112E1746B9}"/>
          </ac:spMkLst>
        </pc:spChg>
        <pc:spChg chg="del mod ord">
          <ac:chgData name="Rebecca Wambua" userId="0b3c93eb-6c3a-4bb3-80cd-795ced15ed44" providerId="ADAL" clId="{4C1D6249-CA36-446A-80E0-13CA75C462E7}" dt="2024-05-01T11:05:36.899" v="1474" actId="478"/>
          <ac:spMkLst>
            <pc:docMk/>
            <pc:sldMk cId="1802788490" sldId="361"/>
            <ac:spMk id="5" creationId="{5212937C-D02C-485F-9D17-60C16980BD45}"/>
          </ac:spMkLst>
        </pc:spChg>
        <pc:spChg chg="add del">
          <ac:chgData name="Rebecca Wambua" userId="0b3c93eb-6c3a-4bb3-80cd-795ced15ed44" providerId="ADAL" clId="{4C1D6249-CA36-446A-80E0-13CA75C462E7}" dt="2024-05-01T10:36:08.685" v="1158"/>
          <ac:spMkLst>
            <pc:docMk/>
            <pc:sldMk cId="1802788490" sldId="361"/>
            <ac:spMk id="6" creationId="{F1B0B42A-5658-C5BF-3441-C89BB154AD36}"/>
          </ac:spMkLst>
        </pc:spChg>
        <pc:spChg chg="add del mod">
          <ac:chgData name="Rebecca Wambua" userId="0b3c93eb-6c3a-4bb3-80cd-795ced15ed44" providerId="ADAL" clId="{4C1D6249-CA36-446A-80E0-13CA75C462E7}" dt="2024-05-01T11:03:36.331" v="1425" actId="700"/>
          <ac:spMkLst>
            <pc:docMk/>
            <pc:sldMk cId="1802788490" sldId="361"/>
            <ac:spMk id="11" creationId="{8A68CD06-753A-21D9-C824-405C1C09DDCC}"/>
          </ac:spMkLst>
        </pc:spChg>
        <pc:picChg chg="add mod ord">
          <ac:chgData name="Rebecca Wambua" userId="0b3c93eb-6c3a-4bb3-80cd-795ced15ed44" providerId="ADAL" clId="{4C1D6249-CA36-446A-80E0-13CA75C462E7}" dt="2024-05-01T11:05:13.775" v="1448" actId="14100"/>
          <ac:picMkLst>
            <pc:docMk/>
            <pc:sldMk cId="1802788490" sldId="361"/>
            <ac:picMk id="7" creationId="{78CF9F2F-4670-95A7-00ED-1FFA645D5EAA}"/>
          </ac:picMkLst>
        </pc:picChg>
        <pc:picChg chg="add del mod ord">
          <ac:chgData name="Rebecca Wambua" userId="0b3c93eb-6c3a-4bb3-80cd-795ced15ed44" providerId="ADAL" clId="{4C1D6249-CA36-446A-80E0-13CA75C462E7}" dt="2024-05-01T10:36:00.159" v="1157" actId="34307"/>
          <ac:picMkLst>
            <pc:docMk/>
            <pc:sldMk cId="1802788490" sldId="361"/>
            <ac:picMk id="8" creationId="{0B5646EB-7633-3FD7-1643-826F920B3FA8}"/>
          </ac:picMkLst>
        </pc:picChg>
        <pc:picChg chg="add del mod">
          <ac:chgData name="Rebecca Wambua" userId="0b3c93eb-6c3a-4bb3-80cd-795ced15ed44" providerId="ADAL" clId="{4C1D6249-CA36-446A-80E0-13CA75C462E7}" dt="2024-05-01T11:03:18.953" v="1424" actId="478"/>
          <ac:picMkLst>
            <pc:docMk/>
            <pc:sldMk cId="1802788490" sldId="361"/>
            <ac:picMk id="9" creationId="{47F1099D-8074-938B-4BAB-85D67292B7DD}"/>
          </ac:picMkLst>
        </pc:picChg>
      </pc:sldChg>
      <pc:sldChg chg="modSp new mod ord">
        <pc:chgData name="Rebecca Wambua" userId="0b3c93eb-6c3a-4bb3-80cd-795ced15ed44" providerId="ADAL" clId="{4C1D6249-CA36-446A-80E0-13CA75C462E7}" dt="2024-05-02T09:05:34.520" v="2644" actId="20577"/>
        <pc:sldMkLst>
          <pc:docMk/>
          <pc:sldMk cId="3493969576" sldId="362"/>
        </pc:sldMkLst>
        <pc:spChg chg="mod">
          <ac:chgData name="Rebecca Wambua" userId="0b3c93eb-6c3a-4bb3-80cd-795ced15ed44" providerId="ADAL" clId="{4C1D6249-CA36-446A-80E0-13CA75C462E7}" dt="2024-05-02T09:05:34.520" v="2644" actId="20577"/>
          <ac:spMkLst>
            <pc:docMk/>
            <pc:sldMk cId="3493969576" sldId="362"/>
            <ac:spMk id="2" creationId="{523E5B6B-25CC-C792-BE26-741B5E57B93E}"/>
          </ac:spMkLst>
        </pc:spChg>
        <pc:spChg chg="mod">
          <ac:chgData name="Rebecca Wambua" userId="0b3c93eb-6c3a-4bb3-80cd-795ced15ed44" providerId="ADAL" clId="{4C1D6249-CA36-446A-80E0-13CA75C462E7}" dt="2024-05-02T09:05:27.896" v="2631"/>
          <ac:spMkLst>
            <pc:docMk/>
            <pc:sldMk cId="3493969576" sldId="362"/>
            <ac:spMk id="3" creationId="{49F27E18-3803-CD36-4FE9-4632CE8C5736}"/>
          </ac:spMkLst>
        </pc:spChg>
      </pc:sldChg>
      <pc:sldChg chg="new del">
        <pc:chgData name="Rebecca Wambua" userId="0b3c93eb-6c3a-4bb3-80cd-795ced15ed44" providerId="ADAL" clId="{4C1D6249-CA36-446A-80E0-13CA75C462E7}" dt="2024-05-01T10:59:43.619" v="1397" actId="680"/>
        <pc:sldMkLst>
          <pc:docMk/>
          <pc:sldMk cId="3596183452" sldId="36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E28A6CA-4091-416A-AF76-A56D84328312}" type="doc">
      <dgm:prSet loTypeId="urn:microsoft.com/office/officeart/2005/8/layout/chevron2" loCatId="list" qsTypeId="urn:microsoft.com/office/officeart/2005/8/quickstyle/simple1#1" qsCatId="simple" csTypeId="urn:microsoft.com/office/officeart/2005/8/colors/colorful4#1" csCatId="colorful" phldr="1"/>
      <dgm:spPr/>
      <dgm:t>
        <a:bodyPr/>
        <a:lstStyle/>
        <a:p>
          <a:endParaRPr lang="en-US"/>
        </a:p>
      </dgm:t>
    </dgm:pt>
    <dgm:pt modelId="{30FFB775-D43B-4F05-8694-BC9B6F78CBF9}">
      <dgm:prSet phldrT="[Text]"/>
      <dgm:spPr/>
      <dgm:t>
        <a:bodyPr/>
        <a:lstStyle/>
        <a:p>
          <a:r>
            <a:rPr lang="en-US" dirty="0"/>
            <a:t>Advocacy Meeting 1 </a:t>
          </a:r>
        </a:p>
      </dgm:t>
    </dgm:pt>
    <dgm:pt modelId="{5A093FA5-0C7D-4B7B-81B7-8E0BDFDA70B5}" type="parTrans" cxnId="{CDAFB461-E431-4EF4-B096-9B0533A5897C}">
      <dgm:prSet/>
      <dgm:spPr/>
      <dgm:t>
        <a:bodyPr/>
        <a:lstStyle/>
        <a:p>
          <a:endParaRPr lang="en-US"/>
        </a:p>
      </dgm:t>
    </dgm:pt>
    <dgm:pt modelId="{91654929-B567-40AE-8CF6-812E36E3C622}" type="sibTrans" cxnId="{CDAFB461-E431-4EF4-B096-9B0533A5897C}">
      <dgm:prSet/>
      <dgm:spPr/>
      <dgm:t>
        <a:bodyPr/>
        <a:lstStyle/>
        <a:p>
          <a:endParaRPr lang="en-US"/>
        </a:p>
      </dgm:t>
    </dgm:pt>
    <dgm:pt modelId="{0A5B8955-D9C9-4239-9BF0-E2F92864498C}">
      <dgm:prSet phldrT="[Text]" phldr="0" custT="0"/>
      <dgm:spPr/>
      <dgm:t>
        <a:bodyPr vert="horz" wrap="square"/>
        <a:lstStyle/>
        <a:p>
          <a:pPr>
            <a:lnSpc>
              <a:spcPct val="100000"/>
            </a:lnSpc>
            <a:spcBef>
              <a:spcPct val="0"/>
            </a:spcBef>
            <a:spcAft>
              <a:spcPct val="15000"/>
            </a:spcAft>
          </a:pPr>
          <a:r>
            <a:rPr lang="en-US" b="1" dirty="0"/>
            <a:t>23 Male &amp; 17 Female Religious Leaders </a:t>
          </a:r>
          <a:endParaRPr lang="en-US" dirty="0"/>
        </a:p>
      </dgm:t>
    </dgm:pt>
    <dgm:pt modelId="{90B2AE70-1545-4A71-83CC-8228735D50D8}" type="parTrans" cxnId="{BFEDDCA1-8D46-43AC-89E4-3F36432CA1AA}">
      <dgm:prSet/>
      <dgm:spPr/>
      <dgm:t>
        <a:bodyPr/>
        <a:lstStyle/>
        <a:p>
          <a:endParaRPr lang="en-US"/>
        </a:p>
      </dgm:t>
    </dgm:pt>
    <dgm:pt modelId="{D7CB4529-1F65-453A-8F32-8F467DE10076}" type="sibTrans" cxnId="{BFEDDCA1-8D46-43AC-89E4-3F36432CA1AA}">
      <dgm:prSet/>
      <dgm:spPr/>
      <dgm:t>
        <a:bodyPr/>
        <a:lstStyle/>
        <a:p>
          <a:endParaRPr lang="en-US"/>
        </a:p>
      </dgm:t>
    </dgm:pt>
    <dgm:pt modelId="{34643541-0FD4-446B-AB4A-A8D41EDFABD2}">
      <dgm:prSet phldr="0" custT="0"/>
      <dgm:spPr/>
      <dgm:t>
        <a:bodyPr vert="horz" wrap="square"/>
        <a:lstStyle/>
        <a:p>
          <a:pPr>
            <a:lnSpc>
              <a:spcPct val="100000"/>
            </a:lnSpc>
            <a:spcBef>
              <a:spcPct val="0"/>
            </a:spcBef>
            <a:spcAft>
              <a:spcPct val="15000"/>
            </a:spcAft>
          </a:pPr>
          <a:r>
            <a:rPr lang="en-US" dirty="0"/>
            <a:t>Increased the perception that Islam and the Holy book of Qu’ran does not prohibit child spacing among the married women</a:t>
          </a:r>
        </a:p>
      </dgm:t>
    </dgm:pt>
    <dgm:pt modelId="{80148FC2-259E-495A-857C-33D829FB7346}" type="parTrans" cxnId="{5DF879C6-CA4E-4902-873C-12B512F537CE}">
      <dgm:prSet/>
      <dgm:spPr/>
      <dgm:t>
        <a:bodyPr/>
        <a:lstStyle/>
        <a:p>
          <a:endParaRPr lang="en-US"/>
        </a:p>
      </dgm:t>
    </dgm:pt>
    <dgm:pt modelId="{15B85436-DB41-4AE9-B967-C3055AB3F1A6}" type="sibTrans" cxnId="{5DF879C6-CA4E-4902-873C-12B512F537CE}">
      <dgm:prSet/>
      <dgm:spPr/>
      <dgm:t>
        <a:bodyPr/>
        <a:lstStyle/>
        <a:p>
          <a:endParaRPr lang="en-US"/>
        </a:p>
      </dgm:t>
    </dgm:pt>
    <dgm:pt modelId="{0D831D30-5E99-4C7B-BA83-F32ED3E146D9}">
      <dgm:prSet phldrT="[Text]"/>
      <dgm:spPr/>
      <dgm:t>
        <a:bodyPr/>
        <a:lstStyle/>
        <a:p>
          <a:r>
            <a:rPr lang="en-US" dirty="0"/>
            <a:t>Advocacy Meeting 2 </a:t>
          </a:r>
        </a:p>
      </dgm:t>
    </dgm:pt>
    <dgm:pt modelId="{E435BEC3-6180-4440-9954-1F9688B5A047}" type="parTrans" cxnId="{162DCC5F-1BD0-4C87-8443-6B0A96828CFF}">
      <dgm:prSet/>
      <dgm:spPr/>
      <dgm:t>
        <a:bodyPr/>
        <a:lstStyle/>
        <a:p>
          <a:endParaRPr lang="en-US"/>
        </a:p>
      </dgm:t>
    </dgm:pt>
    <dgm:pt modelId="{FD1B01A4-F5A2-4ED9-9490-C0F845D8A3DA}" type="sibTrans" cxnId="{162DCC5F-1BD0-4C87-8443-6B0A96828CFF}">
      <dgm:prSet/>
      <dgm:spPr/>
      <dgm:t>
        <a:bodyPr/>
        <a:lstStyle/>
        <a:p>
          <a:endParaRPr lang="en-US"/>
        </a:p>
      </dgm:t>
    </dgm:pt>
    <dgm:pt modelId="{108B6E49-AFEC-49C5-A1AE-A20F1CEBA23A}">
      <dgm:prSet phldrT="[Text]" phldr="0" custT="1"/>
      <dgm:spPr/>
      <dgm:t>
        <a:bodyPr vert="horz" wrap="square"/>
        <a:lstStyle/>
        <a:p>
          <a:pPr>
            <a:lnSpc>
              <a:spcPct val="100000"/>
            </a:lnSpc>
            <a:spcBef>
              <a:spcPct val="0"/>
            </a:spcBef>
            <a:spcAft>
              <a:spcPct val="15000"/>
            </a:spcAft>
          </a:pPr>
          <a:r>
            <a:rPr lang="en-US" sz="2000" b="1" dirty="0"/>
            <a:t>18 Male &amp; 23 Female Community Leaders</a:t>
          </a:r>
        </a:p>
      </dgm:t>
    </dgm:pt>
    <dgm:pt modelId="{736A47F3-BE4D-4B42-AF54-7FC752A1D262}" type="parTrans" cxnId="{C9613EF2-8B49-4DCF-91C2-07AA1269A02C}">
      <dgm:prSet/>
      <dgm:spPr/>
      <dgm:t>
        <a:bodyPr/>
        <a:lstStyle/>
        <a:p>
          <a:endParaRPr lang="en-US"/>
        </a:p>
      </dgm:t>
    </dgm:pt>
    <dgm:pt modelId="{E077C151-CB6E-4F3E-99DC-F76226F94C87}" type="sibTrans" cxnId="{C9613EF2-8B49-4DCF-91C2-07AA1269A02C}">
      <dgm:prSet/>
      <dgm:spPr/>
      <dgm:t>
        <a:bodyPr/>
        <a:lstStyle/>
        <a:p>
          <a:endParaRPr lang="en-US"/>
        </a:p>
      </dgm:t>
    </dgm:pt>
    <dgm:pt modelId="{0F966F92-7A7A-4BF1-8A48-06CE631FB9CE}">
      <dgm:prSet phldr="0" custT="1"/>
      <dgm:spPr/>
      <dgm:t>
        <a:bodyPr vert="horz" wrap="square"/>
        <a:lstStyle/>
        <a:p>
          <a:pPr>
            <a:lnSpc>
              <a:spcPct val="100000"/>
            </a:lnSpc>
            <a:spcBef>
              <a:spcPct val="0"/>
            </a:spcBef>
            <a:spcAft>
              <a:spcPct val="15000"/>
            </a:spcAft>
          </a:pPr>
          <a:r>
            <a:rPr lang="en-US" sz="1800" b="0" dirty="0"/>
            <a:t>Increased the community support for child spacing by addressing social determinants </a:t>
          </a:r>
          <a:r>
            <a:rPr lang="en-US" sz="1800" b="0" dirty="0">
              <a:solidFill>
                <a:srgbClr val="FF0000"/>
              </a:solidFill>
            </a:rPr>
            <a:t>of FP uptake </a:t>
          </a:r>
          <a:r>
            <a:rPr lang="en-US" sz="1800" b="0" dirty="0"/>
            <a:t>among married women  </a:t>
          </a:r>
        </a:p>
      </dgm:t>
    </dgm:pt>
    <dgm:pt modelId="{D2BA0A22-8703-41B0-A305-2392C48A0AB1}" type="parTrans" cxnId="{E950B5C7-707E-443D-A84F-7A96ED0E71AF}">
      <dgm:prSet/>
      <dgm:spPr/>
      <dgm:t>
        <a:bodyPr/>
        <a:lstStyle/>
        <a:p>
          <a:endParaRPr lang="en-US"/>
        </a:p>
      </dgm:t>
    </dgm:pt>
    <dgm:pt modelId="{71580D5B-E508-4AF3-B95B-79344A61B48C}" type="sibTrans" cxnId="{E950B5C7-707E-443D-A84F-7A96ED0E71AF}">
      <dgm:prSet/>
      <dgm:spPr/>
      <dgm:t>
        <a:bodyPr/>
        <a:lstStyle/>
        <a:p>
          <a:endParaRPr lang="en-US"/>
        </a:p>
      </dgm:t>
    </dgm:pt>
    <dgm:pt modelId="{0963FB74-5742-4360-BA04-D45B5B2DE8BD}">
      <dgm:prSet phldrT="[Text]" custT="1"/>
      <dgm:spPr/>
      <dgm:t>
        <a:bodyPr/>
        <a:lstStyle/>
        <a:p>
          <a:r>
            <a:rPr lang="en-US" sz="1400" dirty="0"/>
            <a:t>Community engagements/outreach </a:t>
          </a:r>
        </a:p>
      </dgm:t>
    </dgm:pt>
    <dgm:pt modelId="{B78A5933-504A-42BC-804A-DE8E2AA8C4FA}" type="parTrans" cxnId="{168EA79A-498B-476F-B84E-D65684200627}">
      <dgm:prSet/>
      <dgm:spPr/>
      <dgm:t>
        <a:bodyPr/>
        <a:lstStyle/>
        <a:p>
          <a:endParaRPr lang="en-US"/>
        </a:p>
      </dgm:t>
    </dgm:pt>
    <dgm:pt modelId="{2637F864-274B-4002-A4B7-80A6815FEE0A}" type="sibTrans" cxnId="{168EA79A-498B-476F-B84E-D65684200627}">
      <dgm:prSet/>
      <dgm:spPr/>
      <dgm:t>
        <a:bodyPr/>
        <a:lstStyle/>
        <a:p>
          <a:endParaRPr lang="en-US"/>
        </a:p>
      </dgm:t>
    </dgm:pt>
    <dgm:pt modelId="{D5373E15-24E7-47E0-85F1-EC4175E4FE11}">
      <dgm:prSet phldrT="[Text]" phldr="0" custT="1"/>
      <dgm:spPr/>
      <dgm:t>
        <a:bodyPr vert="horz" wrap="square"/>
        <a:lstStyle/>
        <a:p>
          <a:pPr>
            <a:lnSpc>
              <a:spcPct val="100000"/>
            </a:lnSpc>
            <a:spcBef>
              <a:spcPct val="0"/>
            </a:spcBef>
            <a:spcAft>
              <a:spcPct val="15000"/>
            </a:spcAft>
          </a:pPr>
          <a:r>
            <a:rPr lang="en-US" sz="2000" b="1" dirty="0"/>
            <a:t>Community Dialogue Forums with over 7000 (both direct and indirect reach)</a:t>
          </a:r>
        </a:p>
      </dgm:t>
    </dgm:pt>
    <dgm:pt modelId="{C618B8D2-8019-4F73-867D-612B5FA7044A}" type="parTrans" cxnId="{4C036918-F6A0-4B84-80C7-C92C095C83D7}">
      <dgm:prSet/>
      <dgm:spPr/>
      <dgm:t>
        <a:bodyPr/>
        <a:lstStyle/>
        <a:p>
          <a:endParaRPr lang="en-US"/>
        </a:p>
      </dgm:t>
    </dgm:pt>
    <dgm:pt modelId="{46158F7A-F08B-435D-9194-03769C1DD134}" type="sibTrans" cxnId="{4C036918-F6A0-4B84-80C7-C92C095C83D7}">
      <dgm:prSet/>
      <dgm:spPr/>
      <dgm:t>
        <a:bodyPr/>
        <a:lstStyle/>
        <a:p>
          <a:endParaRPr lang="en-US"/>
        </a:p>
      </dgm:t>
    </dgm:pt>
    <dgm:pt modelId="{8CDE1A02-8EB0-4C19-9E0B-384B281864BD}">
      <dgm:prSet phldr="0" custT="1"/>
      <dgm:spPr/>
      <dgm:t>
        <a:bodyPr vert="horz" wrap="square"/>
        <a:lstStyle/>
        <a:p>
          <a:pPr>
            <a:lnSpc>
              <a:spcPct val="100000"/>
            </a:lnSpc>
            <a:spcBef>
              <a:spcPct val="0"/>
            </a:spcBef>
            <a:spcAft>
              <a:spcPct val="15000"/>
            </a:spcAft>
          </a:pPr>
          <a:r>
            <a:rPr lang="en-US" sz="1800" dirty="0"/>
            <a:t>Reduced the perception that Somali culture does not allow child spacing among married women </a:t>
          </a:r>
        </a:p>
      </dgm:t>
    </dgm:pt>
    <dgm:pt modelId="{AF127941-7B0E-4525-8DF1-4C545006DBF7}" type="parTrans" cxnId="{E34E91AB-29DD-460E-8DA4-A5994F2DE2EA}">
      <dgm:prSet/>
      <dgm:spPr/>
      <dgm:t>
        <a:bodyPr/>
        <a:lstStyle/>
        <a:p>
          <a:endParaRPr lang="en-US"/>
        </a:p>
      </dgm:t>
    </dgm:pt>
    <dgm:pt modelId="{F38F22CF-1D10-4766-8327-6124D904DC48}" type="sibTrans" cxnId="{E34E91AB-29DD-460E-8DA4-A5994F2DE2EA}">
      <dgm:prSet/>
      <dgm:spPr/>
      <dgm:t>
        <a:bodyPr/>
        <a:lstStyle/>
        <a:p>
          <a:endParaRPr lang="en-US"/>
        </a:p>
      </dgm:t>
    </dgm:pt>
    <dgm:pt modelId="{152CDEF0-7AE7-424A-82F2-B5F839C7F9BB}" type="pres">
      <dgm:prSet presAssocID="{CE28A6CA-4091-416A-AF76-A56D84328312}" presName="linearFlow" presStyleCnt="0">
        <dgm:presLayoutVars>
          <dgm:dir/>
          <dgm:animLvl val="lvl"/>
          <dgm:resizeHandles val="exact"/>
        </dgm:presLayoutVars>
      </dgm:prSet>
      <dgm:spPr/>
    </dgm:pt>
    <dgm:pt modelId="{082317AB-4046-47E3-9BEF-CDF865DD4060}" type="pres">
      <dgm:prSet presAssocID="{30FFB775-D43B-4F05-8694-BC9B6F78CBF9}" presName="composite" presStyleCnt="0"/>
      <dgm:spPr/>
    </dgm:pt>
    <dgm:pt modelId="{519AB944-E6A6-49FC-879C-29465CD5FA30}" type="pres">
      <dgm:prSet presAssocID="{30FFB775-D43B-4F05-8694-BC9B6F78CBF9}" presName="parentText" presStyleLbl="alignNode1" presStyleIdx="0" presStyleCnt="3">
        <dgm:presLayoutVars>
          <dgm:chMax val="1"/>
          <dgm:bulletEnabled val="1"/>
        </dgm:presLayoutVars>
      </dgm:prSet>
      <dgm:spPr/>
    </dgm:pt>
    <dgm:pt modelId="{623626A2-A86A-4384-940D-4AD6A6F7D60C}" type="pres">
      <dgm:prSet presAssocID="{30FFB775-D43B-4F05-8694-BC9B6F78CBF9}" presName="descendantText" presStyleLbl="alignAcc1" presStyleIdx="0" presStyleCnt="3" custLinFactNeighborX="106" custLinFactNeighborY="7514">
        <dgm:presLayoutVars>
          <dgm:bulletEnabled val="1"/>
        </dgm:presLayoutVars>
      </dgm:prSet>
      <dgm:spPr/>
    </dgm:pt>
    <dgm:pt modelId="{B63AF15B-09F2-497A-8455-650BF6AF20C3}" type="pres">
      <dgm:prSet presAssocID="{91654929-B567-40AE-8CF6-812E36E3C622}" presName="sp" presStyleCnt="0"/>
      <dgm:spPr/>
    </dgm:pt>
    <dgm:pt modelId="{AA441D3B-7C47-4002-8C28-36999FE5EA4C}" type="pres">
      <dgm:prSet presAssocID="{0D831D30-5E99-4C7B-BA83-F32ED3E146D9}" presName="composite" presStyleCnt="0"/>
      <dgm:spPr/>
    </dgm:pt>
    <dgm:pt modelId="{C6F89066-6E9D-412A-BE13-87FCFF1B6885}" type="pres">
      <dgm:prSet presAssocID="{0D831D30-5E99-4C7B-BA83-F32ED3E146D9}" presName="parentText" presStyleLbl="alignNode1" presStyleIdx="1" presStyleCnt="3">
        <dgm:presLayoutVars>
          <dgm:chMax val="1"/>
          <dgm:bulletEnabled val="1"/>
        </dgm:presLayoutVars>
      </dgm:prSet>
      <dgm:spPr/>
    </dgm:pt>
    <dgm:pt modelId="{AB0A5A9E-6DC1-4DBD-88FB-C15443E64B53}" type="pres">
      <dgm:prSet presAssocID="{0D831D30-5E99-4C7B-BA83-F32ED3E146D9}" presName="descendantText" presStyleLbl="alignAcc1" presStyleIdx="1" presStyleCnt="3">
        <dgm:presLayoutVars>
          <dgm:bulletEnabled val="1"/>
        </dgm:presLayoutVars>
      </dgm:prSet>
      <dgm:spPr/>
    </dgm:pt>
    <dgm:pt modelId="{D6AA7B8A-52C3-418B-B35B-57A970340727}" type="pres">
      <dgm:prSet presAssocID="{FD1B01A4-F5A2-4ED9-9490-C0F845D8A3DA}" presName="sp" presStyleCnt="0"/>
      <dgm:spPr/>
    </dgm:pt>
    <dgm:pt modelId="{75DFEAB5-1F5B-420E-B05B-AF999C384164}" type="pres">
      <dgm:prSet presAssocID="{0963FB74-5742-4360-BA04-D45B5B2DE8BD}" presName="composite" presStyleCnt="0"/>
      <dgm:spPr/>
    </dgm:pt>
    <dgm:pt modelId="{0B6E2750-0971-403C-B171-74E6109352D8}" type="pres">
      <dgm:prSet presAssocID="{0963FB74-5742-4360-BA04-D45B5B2DE8BD}" presName="parentText" presStyleLbl="alignNode1" presStyleIdx="2" presStyleCnt="3" custLinFactNeighborX="-537" custLinFactNeighborY="-4884">
        <dgm:presLayoutVars>
          <dgm:chMax val="1"/>
          <dgm:bulletEnabled val="1"/>
        </dgm:presLayoutVars>
      </dgm:prSet>
      <dgm:spPr/>
    </dgm:pt>
    <dgm:pt modelId="{D3F9F051-F7D6-4B6B-9D1E-E4308F112BD6}" type="pres">
      <dgm:prSet presAssocID="{0963FB74-5742-4360-BA04-D45B5B2DE8BD}" presName="descendantText" presStyleLbl="alignAcc1" presStyleIdx="2" presStyleCnt="3">
        <dgm:presLayoutVars>
          <dgm:bulletEnabled val="1"/>
        </dgm:presLayoutVars>
      </dgm:prSet>
      <dgm:spPr/>
    </dgm:pt>
  </dgm:ptLst>
  <dgm:cxnLst>
    <dgm:cxn modelId="{590D2E0E-3BCE-4E09-A040-2B342CAD0D4B}" type="presOf" srcId="{0D831D30-5E99-4C7B-BA83-F32ED3E146D9}" destId="{C6F89066-6E9D-412A-BE13-87FCFF1B6885}" srcOrd="0" destOrd="0" presId="urn:microsoft.com/office/officeart/2005/8/layout/chevron2"/>
    <dgm:cxn modelId="{4C036918-F6A0-4B84-80C7-C92C095C83D7}" srcId="{0963FB74-5742-4360-BA04-D45B5B2DE8BD}" destId="{D5373E15-24E7-47E0-85F1-EC4175E4FE11}" srcOrd="0" destOrd="0" parTransId="{C618B8D2-8019-4F73-867D-612B5FA7044A}" sibTransId="{46158F7A-F08B-435D-9194-03769C1DD134}"/>
    <dgm:cxn modelId="{5A930F23-0B0F-44E0-B0A2-D6F23ABB88D1}" type="presOf" srcId="{0F966F92-7A7A-4BF1-8A48-06CE631FB9CE}" destId="{AB0A5A9E-6DC1-4DBD-88FB-C15443E64B53}" srcOrd="0" destOrd="1" presId="urn:microsoft.com/office/officeart/2005/8/layout/chevron2"/>
    <dgm:cxn modelId="{A6A3415D-0F5F-4365-A1BE-9C2DECF9FF73}" type="presOf" srcId="{108B6E49-AFEC-49C5-A1AE-A20F1CEBA23A}" destId="{AB0A5A9E-6DC1-4DBD-88FB-C15443E64B53}" srcOrd="0" destOrd="0" presId="urn:microsoft.com/office/officeart/2005/8/layout/chevron2"/>
    <dgm:cxn modelId="{162DCC5F-1BD0-4C87-8443-6B0A96828CFF}" srcId="{CE28A6CA-4091-416A-AF76-A56D84328312}" destId="{0D831D30-5E99-4C7B-BA83-F32ED3E146D9}" srcOrd="1" destOrd="0" parTransId="{E435BEC3-6180-4440-9954-1F9688B5A047}" sibTransId="{FD1B01A4-F5A2-4ED9-9490-C0F845D8A3DA}"/>
    <dgm:cxn modelId="{CDAFB461-E431-4EF4-B096-9B0533A5897C}" srcId="{CE28A6CA-4091-416A-AF76-A56D84328312}" destId="{30FFB775-D43B-4F05-8694-BC9B6F78CBF9}" srcOrd="0" destOrd="0" parTransId="{5A093FA5-0C7D-4B7B-81B7-8E0BDFDA70B5}" sibTransId="{91654929-B567-40AE-8CF6-812E36E3C622}"/>
    <dgm:cxn modelId="{2E83D753-75B9-425A-97B2-CE5DA03F8A2C}" type="presOf" srcId="{30FFB775-D43B-4F05-8694-BC9B6F78CBF9}" destId="{519AB944-E6A6-49FC-879C-29465CD5FA30}" srcOrd="0" destOrd="0" presId="urn:microsoft.com/office/officeart/2005/8/layout/chevron2"/>
    <dgm:cxn modelId="{A783B196-3232-4F22-93ED-9F3F287963CD}" type="presOf" srcId="{FD1B01A4-F5A2-4ED9-9490-C0F845D8A3DA}" destId="{D6AA7B8A-52C3-418B-B35B-57A970340727}" srcOrd="0" destOrd="0" presId="urn:microsoft.com/office/officeart/2005/8/layout/chevron2"/>
    <dgm:cxn modelId="{168EA79A-498B-476F-B84E-D65684200627}" srcId="{CE28A6CA-4091-416A-AF76-A56D84328312}" destId="{0963FB74-5742-4360-BA04-D45B5B2DE8BD}" srcOrd="2" destOrd="0" parTransId="{B78A5933-504A-42BC-804A-DE8E2AA8C4FA}" sibTransId="{2637F864-274B-4002-A4B7-80A6815FEE0A}"/>
    <dgm:cxn modelId="{BFEDDCA1-8D46-43AC-89E4-3F36432CA1AA}" srcId="{30FFB775-D43B-4F05-8694-BC9B6F78CBF9}" destId="{0A5B8955-D9C9-4239-9BF0-E2F92864498C}" srcOrd="0" destOrd="0" parTransId="{90B2AE70-1545-4A71-83CC-8228735D50D8}" sibTransId="{D7CB4529-1F65-453A-8F32-8F467DE10076}"/>
    <dgm:cxn modelId="{7A406AA5-06C1-43EC-9818-611FC03DA64D}" type="presOf" srcId="{8CDE1A02-8EB0-4C19-9E0B-384B281864BD}" destId="{D3F9F051-F7D6-4B6B-9D1E-E4308F112BD6}" srcOrd="0" destOrd="1" presId="urn:microsoft.com/office/officeart/2005/8/layout/chevron2"/>
    <dgm:cxn modelId="{38835AA9-2B4C-4B35-A401-BFC48ACF659E}" type="presOf" srcId="{0A5B8955-D9C9-4239-9BF0-E2F92864498C}" destId="{623626A2-A86A-4384-940D-4AD6A6F7D60C}" srcOrd="0" destOrd="0" presId="urn:microsoft.com/office/officeart/2005/8/layout/chevron2"/>
    <dgm:cxn modelId="{E34E91AB-29DD-460E-8DA4-A5994F2DE2EA}" srcId="{0963FB74-5742-4360-BA04-D45B5B2DE8BD}" destId="{8CDE1A02-8EB0-4C19-9E0B-384B281864BD}" srcOrd="1" destOrd="0" parTransId="{AF127941-7B0E-4525-8DF1-4C545006DBF7}" sibTransId="{F38F22CF-1D10-4766-8327-6124D904DC48}"/>
    <dgm:cxn modelId="{DAC725AF-898F-4990-823F-6BA6B53B0366}" type="presOf" srcId="{34643541-0FD4-446B-AB4A-A8D41EDFABD2}" destId="{623626A2-A86A-4384-940D-4AD6A6F7D60C}" srcOrd="0" destOrd="1" presId="urn:microsoft.com/office/officeart/2005/8/layout/chevron2"/>
    <dgm:cxn modelId="{CE8B7DC0-13DE-471E-B0F8-378F26FDF67E}" type="presOf" srcId="{91654929-B567-40AE-8CF6-812E36E3C622}" destId="{B63AF15B-09F2-497A-8455-650BF6AF20C3}" srcOrd="0" destOrd="0" presId="urn:microsoft.com/office/officeart/2005/8/layout/chevron2"/>
    <dgm:cxn modelId="{5DF879C6-CA4E-4902-873C-12B512F537CE}" srcId="{30FFB775-D43B-4F05-8694-BC9B6F78CBF9}" destId="{34643541-0FD4-446B-AB4A-A8D41EDFABD2}" srcOrd="1" destOrd="0" parTransId="{80148FC2-259E-495A-857C-33D829FB7346}" sibTransId="{15B85436-DB41-4AE9-B967-C3055AB3F1A6}"/>
    <dgm:cxn modelId="{E950B5C7-707E-443D-A84F-7A96ED0E71AF}" srcId="{0D831D30-5E99-4C7B-BA83-F32ED3E146D9}" destId="{0F966F92-7A7A-4BF1-8A48-06CE631FB9CE}" srcOrd="1" destOrd="0" parTransId="{D2BA0A22-8703-41B0-A305-2392C48A0AB1}" sibTransId="{71580D5B-E508-4AF3-B95B-79344A61B48C}"/>
    <dgm:cxn modelId="{B8C20ED1-E515-4B96-962A-3FC7CF70B160}" type="presOf" srcId="{CE28A6CA-4091-416A-AF76-A56D84328312}" destId="{152CDEF0-7AE7-424A-82F2-B5F839C7F9BB}" srcOrd="0" destOrd="0" presId="urn:microsoft.com/office/officeart/2005/8/layout/chevron2"/>
    <dgm:cxn modelId="{D1AF75D9-7A37-4309-A938-98A97C364F2A}" type="presOf" srcId="{0963FB74-5742-4360-BA04-D45B5B2DE8BD}" destId="{0B6E2750-0971-403C-B171-74E6109352D8}" srcOrd="0" destOrd="0" presId="urn:microsoft.com/office/officeart/2005/8/layout/chevron2"/>
    <dgm:cxn modelId="{BD014CEF-B8AE-44D4-A800-EFC1B335A97B}" type="presOf" srcId="{D5373E15-24E7-47E0-85F1-EC4175E4FE11}" destId="{D3F9F051-F7D6-4B6B-9D1E-E4308F112BD6}" srcOrd="0" destOrd="0" presId="urn:microsoft.com/office/officeart/2005/8/layout/chevron2"/>
    <dgm:cxn modelId="{C9613EF2-8B49-4DCF-91C2-07AA1269A02C}" srcId="{0D831D30-5E99-4C7B-BA83-F32ED3E146D9}" destId="{108B6E49-AFEC-49C5-A1AE-A20F1CEBA23A}" srcOrd="0" destOrd="0" parTransId="{736A47F3-BE4D-4B42-AF54-7FC752A1D262}" sibTransId="{E077C151-CB6E-4F3E-99DC-F76226F94C87}"/>
    <dgm:cxn modelId="{A0C9C73B-619B-4E3B-88B1-6EF076892688}" type="presParOf" srcId="{152CDEF0-7AE7-424A-82F2-B5F839C7F9BB}" destId="{082317AB-4046-47E3-9BEF-CDF865DD4060}" srcOrd="0" destOrd="0" presId="urn:microsoft.com/office/officeart/2005/8/layout/chevron2"/>
    <dgm:cxn modelId="{B8DF67A3-2A20-4F79-9D42-CE73D7CB2AB3}" type="presParOf" srcId="{082317AB-4046-47E3-9BEF-CDF865DD4060}" destId="{519AB944-E6A6-49FC-879C-29465CD5FA30}" srcOrd="0" destOrd="0" presId="urn:microsoft.com/office/officeart/2005/8/layout/chevron2"/>
    <dgm:cxn modelId="{D9612559-5916-4D95-9976-BA20872F569F}" type="presParOf" srcId="{082317AB-4046-47E3-9BEF-CDF865DD4060}" destId="{623626A2-A86A-4384-940D-4AD6A6F7D60C}" srcOrd="1" destOrd="0" presId="urn:microsoft.com/office/officeart/2005/8/layout/chevron2"/>
    <dgm:cxn modelId="{4B7D2BA7-7B1A-409B-B6D0-6855AC70BD06}" type="presParOf" srcId="{152CDEF0-7AE7-424A-82F2-B5F839C7F9BB}" destId="{B63AF15B-09F2-497A-8455-650BF6AF20C3}" srcOrd="1" destOrd="0" presId="urn:microsoft.com/office/officeart/2005/8/layout/chevron2"/>
    <dgm:cxn modelId="{F6CAFB6F-1941-4EC4-B3E8-8CDE1B6019AF}" type="presParOf" srcId="{152CDEF0-7AE7-424A-82F2-B5F839C7F9BB}" destId="{AA441D3B-7C47-4002-8C28-36999FE5EA4C}" srcOrd="2" destOrd="0" presId="urn:microsoft.com/office/officeart/2005/8/layout/chevron2"/>
    <dgm:cxn modelId="{BCC76DFA-76F6-4EBE-A634-B0AFA939EF2A}" type="presParOf" srcId="{AA441D3B-7C47-4002-8C28-36999FE5EA4C}" destId="{C6F89066-6E9D-412A-BE13-87FCFF1B6885}" srcOrd="0" destOrd="0" presId="urn:microsoft.com/office/officeart/2005/8/layout/chevron2"/>
    <dgm:cxn modelId="{BA27DFD4-8B55-4ACB-8B4F-979104DB98E3}" type="presParOf" srcId="{AA441D3B-7C47-4002-8C28-36999FE5EA4C}" destId="{AB0A5A9E-6DC1-4DBD-88FB-C15443E64B53}" srcOrd="1" destOrd="0" presId="urn:microsoft.com/office/officeart/2005/8/layout/chevron2"/>
    <dgm:cxn modelId="{4F83949F-52CE-4232-B31D-1FCC398169B9}" type="presParOf" srcId="{152CDEF0-7AE7-424A-82F2-B5F839C7F9BB}" destId="{D6AA7B8A-52C3-418B-B35B-57A970340727}" srcOrd="3" destOrd="0" presId="urn:microsoft.com/office/officeart/2005/8/layout/chevron2"/>
    <dgm:cxn modelId="{EA4EE76A-8A5F-4C68-9356-025C7825EF9E}" type="presParOf" srcId="{152CDEF0-7AE7-424A-82F2-B5F839C7F9BB}" destId="{75DFEAB5-1F5B-420E-B05B-AF999C384164}" srcOrd="4" destOrd="0" presId="urn:microsoft.com/office/officeart/2005/8/layout/chevron2"/>
    <dgm:cxn modelId="{92D2FE6D-3011-46D4-AF0A-66594AFB0051}" type="presParOf" srcId="{75DFEAB5-1F5B-420E-B05B-AF999C384164}" destId="{0B6E2750-0971-403C-B171-74E6109352D8}" srcOrd="0" destOrd="0" presId="urn:microsoft.com/office/officeart/2005/8/layout/chevron2"/>
    <dgm:cxn modelId="{B621DA41-4D35-48CC-84C3-04CF9AD1D5FE}" type="presParOf" srcId="{75DFEAB5-1F5B-420E-B05B-AF999C384164}" destId="{D3F9F051-F7D6-4B6B-9D1E-E4308F112BD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AB944-E6A6-49FC-879C-29465CD5FA30}">
      <dsp:nvSpPr>
        <dsp:cNvPr id="0" name=""/>
        <dsp:cNvSpPr/>
      </dsp:nvSpPr>
      <dsp:spPr>
        <a:xfrm rot="5400000">
          <a:off x="-283004" y="286129"/>
          <a:ext cx="1886697" cy="1320688"/>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Advocacy Meeting 1 </a:t>
          </a:r>
        </a:p>
      </dsp:txBody>
      <dsp:txXfrm rot="-5400000">
        <a:off x="1" y="663468"/>
        <a:ext cx="1320688" cy="566009"/>
      </dsp:txXfrm>
    </dsp:sp>
    <dsp:sp modelId="{623626A2-A86A-4384-940D-4AD6A6F7D60C}">
      <dsp:nvSpPr>
        <dsp:cNvPr id="0" name=""/>
        <dsp:cNvSpPr/>
      </dsp:nvSpPr>
      <dsp:spPr>
        <a:xfrm rot="5400000">
          <a:off x="4037904" y="-2621942"/>
          <a:ext cx="1226353" cy="6660785"/>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100000"/>
            </a:lnSpc>
            <a:spcBef>
              <a:spcPct val="0"/>
            </a:spcBef>
            <a:spcAft>
              <a:spcPct val="15000"/>
            </a:spcAft>
            <a:buChar char="•"/>
          </a:pPr>
          <a:r>
            <a:rPr lang="en-US" sz="1800" b="1" kern="1200" dirty="0"/>
            <a:t>23 Male &amp; 17 Female Religious Leaders </a:t>
          </a:r>
          <a:endParaRPr lang="en-US" sz="1800" kern="1200" dirty="0"/>
        </a:p>
        <a:p>
          <a:pPr marL="171450" lvl="1" indent="-171450" algn="l" defTabSz="800100">
            <a:lnSpc>
              <a:spcPct val="100000"/>
            </a:lnSpc>
            <a:spcBef>
              <a:spcPct val="0"/>
            </a:spcBef>
            <a:spcAft>
              <a:spcPct val="15000"/>
            </a:spcAft>
            <a:buChar char="•"/>
          </a:pPr>
          <a:r>
            <a:rPr lang="en-US" sz="1800" kern="1200" dirty="0"/>
            <a:t>Increased the perception that Islam and the Holy book of Qu’ran does not prohibit child spacing among the married women</a:t>
          </a:r>
        </a:p>
      </dsp:txBody>
      <dsp:txXfrm rot="-5400000">
        <a:off x="1320688" y="155140"/>
        <a:ext cx="6600919" cy="1106621"/>
      </dsp:txXfrm>
    </dsp:sp>
    <dsp:sp modelId="{C6F89066-6E9D-412A-BE13-87FCFF1B6885}">
      <dsp:nvSpPr>
        <dsp:cNvPr id="0" name=""/>
        <dsp:cNvSpPr/>
      </dsp:nvSpPr>
      <dsp:spPr>
        <a:xfrm rot="5400000">
          <a:off x="-283004" y="1981550"/>
          <a:ext cx="1886697" cy="1320688"/>
        </a:xfrm>
        <a:prstGeom prst="chevron">
          <a:avLst/>
        </a:prstGeom>
        <a:solidFill>
          <a:schemeClr val="accent4">
            <a:hueOff val="5197846"/>
            <a:satOff val="-23984"/>
            <a:lumOff val="883"/>
            <a:alphaOff val="0"/>
          </a:schemeClr>
        </a:solidFill>
        <a:ln w="12700" cap="flat" cmpd="sng" algn="ctr">
          <a:solidFill>
            <a:schemeClr val="accent4">
              <a:hueOff val="5197846"/>
              <a:satOff val="-23984"/>
              <a:lumOff val="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Advocacy Meeting 2 </a:t>
          </a:r>
        </a:p>
      </dsp:txBody>
      <dsp:txXfrm rot="-5400000">
        <a:off x="1" y="2358889"/>
        <a:ext cx="1320688" cy="566009"/>
      </dsp:txXfrm>
    </dsp:sp>
    <dsp:sp modelId="{AB0A5A9E-6DC1-4DBD-88FB-C15443E64B53}">
      <dsp:nvSpPr>
        <dsp:cNvPr id="0" name=""/>
        <dsp:cNvSpPr/>
      </dsp:nvSpPr>
      <dsp:spPr>
        <a:xfrm rot="5400000">
          <a:off x="4037904" y="-1018670"/>
          <a:ext cx="1226353" cy="6660785"/>
        </a:xfrm>
        <a:prstGeom prst="round2SameRect">
          <a:avLst/>
        </a:prstGeom>
        <a:solidFill>
          <a:schemeClr val="lt1">
            <a:alpha val="90000"/>
            <a:hueOff val="0"/>
            <a:satOff val="0"/>
            <a:lumOff val="0"/>
            <a:alphaOff val="0"/>
          </a:schemeClr>
        </a:solidFill>
        <a:ln w="12700" cap="flat" cmpd="sng" algn="ctr">
          <a:solidFill>
            <a:schemeClr val="accent4">
              <a:hueOff val="5197846"/>
              <a:satOff val="-23984"/>
              <a:lumOff val="8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100000"/>
            </a:lnSpc>
            <a:spcBef>
              <a:spcPct val="0"/>
            </a:spcBef>
            <a:spcAft>
              <a:spcPct val="15000"/>
            </a:spcAft>
            <a:buChar char="•"/>
          </a:pPr>
          <a:r>
            <a:rPr lang="en-US" sz="2000" b="1" kern="1200" dirty="0"/>
            <a:t>18 Male &amp; 23 Female Community Leaders</a:t>
          </a:r>
        </a:p>
        <a:p>
          <a:pPr marL="171450" lvl="1" indent="-171450" algn="l" defTabSz="800100">
            <a:lnSpc>
              <a:spcPct val="100000"/>
            </a:lnSpc>
            <a:spcBef>
              <a:spcPct val="0"/>
            </a:spcBef>
            <a:spcAft>
              <a:spcPct val="15000"/>
            </a:spcAft>
            <a:buChar char="•"/>
          </a:pPr>
          <a:r>
            <a:rPr lang="en-US" sz="1800" b="0" kern="1200" dirty="0"/>
            <a:t>Increased the community support for child spacing by addressing social determinants </a:t>
          </a:r>
          <a:r>
            <a:rPr lang="en-US" sz="1800" b="0" kern="1200" dirty="0">
              <a:solidFill>
                <a:srgbClr val="FF0000"/>
              </a:solidFill>
            </a:rPr>
            <a:t>of FP uptake </a:t>
          </a:r>
          <a:r>
            <a:rPr lang="en-US" sz="1800" b="0" kern="1200" dirty="0"/>
            <a:t>among married women  </a:t>
          </a:r>
        </a:p>
      </dsp:txBody>
      <dsp:txXfrm rot="-5400000">
        <a:off x="1320688" y="1758412"/>
        <a:ext cx="6600919" cy="1106621"/>
      </dsp:txXfrm>
    </dsp:sp>
    <dsp:sp modelId="{0B6E2750-0971-403C-B171-74E6109352D8}">
      <dsp:nvSpPr>
        <dsp:cNvPr id="0" name=""/>
        <dsp:cNvSpPr/>
      </dsp:nvSpPr>
      <dsp:spPr>
        <a:xfrm rot="5400000">
          <a:off x="-283004" y="3584824"/>
          <a:ext cx="1886697" cy="1320688"/>
        </a:xfrm>
        <a:prstGeom prst="chevron">
          <a:avLst/>
        </a:prstGeom>
        <a:solidFill>
          <a:schemeClr val="accent4">
            <a:hueOff val="10395692"/>
            <a:satOff val="-47968"/>
            <a:lumOff val="1765"/>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Community engagements/outreach </a:t>
          </a:r>
        </a:p>
      </dsp:txBody>
      <dsp:txXfrm rot="-5400000">
        <a:off x="1" y="3962163"/>
        <a:ext cx="1320688" cy="566009"/>
      </dsp:txXfrm>
    </dsp:sp>
    <dsp:sp modelId="{D3F9F051-F7D6-4B6B-9D1E-E4308F112BD6}">
      <dsp:nvSpPr>
        <dsp:cNvPr id="0" name=""/>
        <dsp:cNvSpPr/>
      </dsp:nvSpPr>
      <dsp:spPr>
        <a:xfrm rot="5400000">
          <a:off x="4037582" y="677072"/>
          <a:ext cx="1226998" cy="6660785"/>
        </a:xfrm>
        <a:prstGeom prst="round2SameRect">
          <a:avLst/>
        </a:prstGeom>
        <a:solidFill>
          <a:schemeClr val="lt1">
            <a:alpha val="90000"/>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100000"/>
            </a:lnSpc>
            <a:spcBef>
              <a:spcPct val="0"/>
            </a:spcBef>
            <a:spcAft>
              <a:spcPct val="15000"/>
            </a:spcAft>
            <a:buChar char="•"/>
          </a:pPr>
          <a:r>
            <a:rPr lang="en-US" sz="2000" b="1" kern="1200" dirty="0"/>
            <a:t>Community Dialogue Forums with over 7000 (both direct and indirect reach)</a:t>
          </a:r>
        </a:p>
        <a:p>
          <a:pPr marL="171450" lvl="1" indent="-171450" algn="l" defTabSz="800100">
            <a:lnSpc>
              <a:spcPct val="100000"/>
            </a:lnSpc>
            <a:spcBef>
              <a:spcPct val="0"/>
            </a:spcBef>
            <a:spcAft>
              <a:spcPct val="15000"/>
            </a:spcAft>
            <a:buChar char="•"/>
          </a:pPr>
          <a:r>
            <a:rPr lang="en-US" sz="1800" kern="1200" dirty="0"/>
            <a:t>Reduced the perception that Somali culture does not allow child spacing among married women </a:t>
          </a:r>
        </a:p>
      </dsp:txBody>
      <dsp:txXfrm rot="-5400000">
        <a:off x="1320689" y="3453863"/>
        <a:ext cx="6600888" cy="110720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3E60C9B-D9F8-45EE-9199-CAF44AE4B7F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E60C9B-D9F8-45EE-9199-CAF44AE4B7F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3E60C9B-D9F8-45EE-9199-CAF44AE4B7F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E60C9B-D9F8-45EE-9199-CAF44AE4B7F3}" type="datetimeFigureOut">
              <a:rPr lang="en-US" smtClean="0"/>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E60C9B-D9F8-45EE-9199-CAF44AE4B7F3}" type="datetimeFigureOut">
              <a:rPr lang="en-US" smtClean="0"/>
              <a:t>5/2/2024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E60C9B-D9F8-45EE-9199-CAF44AE4B7F3}" type="datetimeFigureOut">
              <a:rPr lang="en-US" smtClean="0"/>
              <a:t>5/2/2024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E60C9B-D9F8-45EE-9199-CAF44AE4B7F3}" type="datetimeFigureOut">
              <a:rPr lang="en-US" smtClean="0"/>
              <a:t>5/2/2024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E60C9B-D9F8-45EE-9199-CAF44AE4B7F3}" type="datetimeFigureOut">
              <a:rPr lang="en-US" smtClean="0"/>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E60C9B-D9F8-45EE-9199-CAF44AE4B7F3}" type="datetimeFigureOut">
              <a:rPr lang="en-US" smtClean="0"/>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E60C9B-D9F8-45EE-9199-CAF44AE4B7F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E60C9B-D9F8-45EE-9199-CAF44AE4B7F3}" type="datetimeFigureOut">
              <a:rPr lang="en-US" smtClean="0"/>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5B8337-7CB1-4D1C-9B0A-57EB5EF4FD6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E60C9B-D9F8-45EE-9199-CAF44AE4B7F3}" type="datetimeFigureOut">
              <a:rPr lang="en-US" smtClean="0"/>
              <a:t>5/2/2024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5B8337-7CB1-4D1C-9B0A-57EB5EF4FD6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4838229"/>
            <a:ext cx="12192000" cy="2554545"/>
          </a:xfrm>
          <a:prstGeom prst="rect">
            <a:avLst/>
          </a:prstGeom>
          <a:noFill/>
        </p:spPr>
        <p:txBody>
          <a:bodyPr wrap="square" rtlCol="0">
            <a:spAutoFit/>
          </a:bodyPr>
          <a:lstStyle/>
          <a:p>
            <a:pPr algn="ctr"/>
            <a:r>
              <a:rPr lang="en-US" sz="3200" b="1" dirty="0" err="1">
                <a:gradFill>
                  <a:gsLst>
                    <a:gs pos="0">
                      <a:srgbClr val="012D86"/>
                    </a:gs>
                    <a:gs pos="100000">
                      <a:srgbClr val="0E2557"/>
                    </a:gs>
                  </a:gsLst>
                  <a:lin scaled="0"/>
                </a:gradFill>
                <a:latin typeface="Calibri Light" panose="020F0302020204030204" charset="0"/>
                <a:cs typeface="Calibri Light" panose="020F0302020204030204" charset="0"/>
              </a:rPr>
              <a:t>FoH</a:t>
            </a:r>
            <a:r>
              <a:rPr lang="en-US" sz="3200" b="1" dirty="0">
                <a:gradFill>
                  <a:gsLst>
                    <a:gs pos="0">
                      <a:srgbClr val="012D86"/>
                    </a:gs>
                    <a:gs pos="100000">
                      <a:srgbClr val="0E2557"/>
                    </a:gs>
                  </a:gsLst>
                  <a:lin scaled="0"/>
                </a:gradFill>
                <a:latin typeface="Calibri Light" panose="020F0302020204030204" charset="0"/>
                <a:cs typeface="Calibri Light" panose="020F0302020204030204" charset="0"/>
              </a:rPr>
              <a:t> Presentation </a:t>
            </a:r>
          </a:p>
          <a:p>
            <a:pPr algn="ctr"/>
            <a:r>
              <a:rPr lang="en-US" sz="3200" b="1" dirty="0">
                <a:gradFill>
                  <a:gsLst>
                    <a:gs pos="0">
                      <a:srgbClr val="012D86"/>
                    </a:gs>
                    <a:gs pos="100000">
                      <a:srgbClr val="0E2557"/>
                    </a:gs>
                  </a:gsLst>
                  <a:lin scaled="0"/>
                </a:gradFill>
                <a:latin typeface="Calibri Light" panose="020F0302020204030204" charset="0"/>
                <a:cs typeface="Calibri Light" panose="020F0302020204030204" charset="0"/>
              </a:rPr>
              <a:t>To BMG team at </a:t>
            </a:r>
            <a:r>
              <a:rPr lang="en-US" sz="3200" b="1" dirty="0" err="1">
                <a:gradFill>
                  <a:gsLst>
                    <a:gs pos="0">
                      <a:srgbClr val="012D86"/>
                    </a:gs>
                    <a:gs pos="100000">
                      <a:srgbClr val="0E2557"/>
                    </a:gs>
                  </a:gsLst>
                  <a:lin scaled="0"/>
                </a:gradFill>
                <a:latin typeface="Calibri Light" panose="020F0302020204030204" charset="0"/>
                <a:cs typeface="Calibri Light" panose="020F0302020204030204" charset="0"/>
              </a:rPr>
              <a:t>Kofisi</a:t>
            </a:r>
            <a:r>
              <a:rPr lang="en-US" sz="3200" b="1" dirty="0">
                <a:gradFill>
                  <a:gsLst>
                    <a:gs pos="0">
                      <a:srgbClr val="012D86"/>
                    </a:gs>
                    <a:gs pos="100000">
                      <a:srgbClr val="0E2557"/>
                    </a:gs>
                  </a:gsLst>
                  <a:lin scaled="0"/>
                </a:gradFill>
                <a:latin typeface="Calibri Light" panose="020F0302020204030204" charset="0"/>
                <a:cs typeface="Calibri Light" panose="020F0302020204030204" charset="0"/>
              </a:rPr>
              <a:t> Square, Riverside</a:t>
            </a:r>
          </a:p>
          <a:p>
            <a:pPr algn="ctr"/>
            <a:r>
              <a:rPr lang="en-US" sz="3200" b="1" dirty="0">
                <a:gradFill>
                  <a:gsLst>
                    <a:gs pos="0">
                      <a:srgbClr val="012D86"/>
                    </a:gs>
                    <a:gs pos="100000">
                      <a:srgbClr val="0E2557"/>
                    </a:gs>
                  </a:gsLst>
                  <a:lin scaled="0"/>
                </a:gradFill>
                <a:latin typeface="Calibri Light" panose="020F0302020204030204" charset="0"/>
                <a:cs typeface="Calibri Light" panose="020F0302020204030204" charset="0"/>
              </a:rPr>
              <a:t>May 2nd, 2024</a:t>
            </a:r>
          </a:p>
          <a:p>
            <a:pPr algn="ctr"/>
            <a:endParaRPr lang="en-US" sz="3200" b="1" dirty="0">
              <a:gradFill>
                <a:gsLst>
                  <a:gs pos="0">
                    <a:srgbClr val="012D86"/>
                  </a:gs>
                  <a:gs pos="100000">
                    <a:srgbClr val="0E2557"/>
                  </a:gs>
                </a:gsLst>
                <a:lin scaled="0"/>
              </a:gradFill>
              <a:latin typeface="Calibri Light" panose="020F0302020204030204" charset="0"/>
              <a:cs typeface="Calibri Light" panose="020F0302020204030204" charset="0"/>
            </a:endParaRPr>
          </a:p>
          <a:p>
            <a:pPr algn="ctr"/>
            <a:endParaRPr lang="en-US" sz="3200" b="1" dirty="0">
              <a:gradFill>
                <a:gsLst>
                  <a:gs pos="0">
                    <a:srgbClr val="012D86"/>
                  </a:gs>
                  <a:gs pos="100000">
                    <a:srgbClr val="0E2557"/>
                  </a:gs>
                </a:gsLst>
                <a:lin scaled="0"/>
              </a:gradFill>
              <a:latin typeface="Calibri Light" panose="020F0302020204030204" charset="0"/>
              <a:cs typeface="Calibri Light" panose="020F0302020204030204" charset="0"/>
            </a:endParaRPr>
          </a:p>
        </p:txBody>
      </p:sp>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74984" y="993256"/>
            <a:ext cx="3818255" cy="294576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a:solidFill>
                  <a:schemeClr val="accent5">
                    <a:lumMod val="75000"/>
                  </a:schemeClr>
                </a:solidFill>
              </a:rPr>
              <a:t>Who are we.......</a:t>
            </a:r>
          </a:p>
        </p:txBody>
      </p:sp>
      <p:sp>
        <p:nvSpPr>
          <p:cNvPr id="3" name="Content Placeholder 2"/>
          <p:cNvSpPr>
            <a:spLocks noGrp="1"/>
          </p:cNvSpPr>
          <p:nvPr>
            <p:ph sz="half" idx="1"/>
          </p:nvPr>
        </p:nvSpPr>
        <p:spPr>
          <a:xfrm>
            <a:off x="838200" y="1825625"/>
            <a:ext cx="7273925" cy="4351655"/>
          </a:xfrm>
        </p:spPr>
        <p:txBody>
          <a:bodyPr>
            <a:normAutofit/>
          </a:bodyPr>
          <a:lstStyle/>
          <a:p>
            <a:pPr algn="ctr"/>
            <a:r>
              <a:rPr lang="en-US" sz="3600" b="1" dirty="0">
                <a:latin typeface="+mj-lt"/>
                <a:cs typeface="+mj-lt"/>
              </a:rPr>
              <a:t>We are non profit</a:t>
            </a:r>
          </a:p>
          <a:p>
            <a:pPr algn="ctr"/>
            <a:r>
              <a:rPr lang="en-US" sz="3600" b="1" dirty="0">
                <a:latin typeface="+mj-lt"/>
                <a:cs typeface="+mj-lt"/>
              </a:rPr>
              <a:t>We are community oriented</a:t>
            </a:r>
          </a:p>
          <a:p>
            <a:pPr algn="ctr"/>
            <a:r>
              <a:rPr lang="en-US" sz="3600" b="1" dirty="0">
                <a:latin typeface="+mj-lt"/>
                <a:cs typeface="+mj-lt"/>
              </a:rPr>
              <a:t>We strive to build </a:t>
            </a:r>
            <a:r>
              <a:rPr lang="en-US" sz="3600" b="1" dirty="0">
                <a:solidFill>
                  <a:srgbClr val="7030A0"/>
                </a:solidFill>
                <a:latin typeface="+mj-lt"/>
                <a:cs typeface="+mj-lt"/>
              </a:rPr>
              <a:t>healthy</a:t>
            </a:r>
            <a:r>
              <a:rPr lang="en-US" sz="3600" b="1" dirty="0">
                <a:solidFill>
                  <a:srgbClr val="FF99FF"/>
                </a:solidFill>
                <a:latin typeface="+mj-lt"/>
                <a:cs typeface="+mj-lt"/>
              </a:rPr>
              <a:t>, literate</a:t>
            </a:r>
            <a:r>
              <a:rPr lang="en-US" sz="3600" b="1" dirty="0">
                <a:latin typeface="+mj-lt"/>
                <a:cs typeface="+mj-lt"/>
              </a:rPr>
              <a:t> and </a:t>
            </a:r>
            <a:r>
              <a:rPr lang="en-US" sz="3600" b="1" dirty="0">
                <a:solidFill>
                  <a:srgbClr val="00B0F0"/>
                </a:solidFill>
                <a:latin typeface="+mj-lt"/>
                <a:cs typeface="+mj-lt"/>
              </a:rPr>
              <a:t>wealthy </a:t>
            </a:r>
            <a:r>
              <a:rPr lang="en-US" sz="3600" b="1" dirty="0">
                <a:latin typeface="+mj-lt"/>
                <a:cs typeface="+mj-lt"/>
              </a:rPr>
              <a:t>Garissa</a:t>
            </a:r>
            <a:r>
              <a:rPr lang="en-US" sz="3600" b="1" dirty="0">
                <a:solidFill>
                  <a:srgbClr val="00B0F0"/>
                </a:solidFill>
                <a:latin typeface="+mj-lt"/>
                <a:cs typeface="+mj-lt"/>
              </a:rPr>
              <a:t> </a:t>
            </a:r>
            <a:r>
              <a:rPr lang="en-US" sz="3600" b="1" dirty="0">
                <a:latin typeface="+mj-lt"/>
                <a:cs typeface="+mj-lt"/>
              </a:rPr>
              <a:t> communities through</a:t>
            </a:r>
          </a:p>
          <a:p>
            <a:pPr marL="0" indent="0" algn="ctr">
              <a:buNone/>
            </a:pPr>
            <a:r>
              <a:rPr lang="en-US" sz="3600" b="1" dirty="0">
                <a:latin typeface="+mj-lt"/>
                <a:cs typeface="+mj-lt"/>
              </a:rPr>
              <a:t> sustainable programmes.</a:t>
            </a:r>
          </a:p>
        </p:txBody>
      </p:sp>
      <p:pic>
        <p:nvPicPr>
          <p:cNvPr id="10" name="Content Placeholder 9"/>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8112125" y="1691640"/>
            <a:ext cx="2675890" cy="285813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i="1" dirty="0">
                <a:ea typeface="+mn-ea"/>
                <a:cs typeface="+mj-lt"/>
              </a:rPr>
              <a:t>Reason for being</a:t>
            </a:r>
            <a:r>
              <a:rPr lang="en-US" b="1" i="1" dirty="0">
                <a:solidFill>
                  <a:schemeClr val="accent5">
                    <a:lumMod val="75000"/>
                  </a:schemeClr>
                </a:solidFill>
              </a:rPr>
              <a:t>....</a:t>
            </a:r>
          </a:p>
        </p:txBody>
      </p:sp>
      <p:sp>
        <p:nvSpPr>
          <p:cNvPr id="3" name="Content Placeholder 2"/>
          <p:cNvSpPr>
            <a:spLocks noGrp="1"/>
          </p:cNvSpPr>
          <p:nvPr>
            <p:ph idx="1"/>
          </p:nvPr>
        </p:nvSpPr>
        <p:spPr>
          <a:xfrm>
            <a:off x="838200" y="1358900"/>
            <a:ext cx="10515600" cy="4818380"/>
          </a:xfrm>
        </p:spPr>
        <p:txBody>
          <a:bodyPr>
            <a:noAutofit/>
          </a:bodyPr>
          <a:lstStyle/>
          <a:p>
            <a:pPr marL="0" indent="0" algn="ctr">
              <a:buNone/>
            </a:pPr>
            <a:r>
              <a:rPr lang="en-US" sz="3600" b="1" i="1" dirty="0">
                <a:latin typeface="+mj-lt"/>
                <a:cs typeface="+mj-lt"/>
              </a:rPr>
              <a:t>Vision</a:t>
            </a:r>
          </a:p>
          <a:p>
            <a:pPr algn="ctr"/>
            <a:r>
              <a:rPr lang="en-US" sz="4000" i="1" dirty="0">
                <a:solidFill>
                  <a:srgbClr val="FF99FF"/>
                </a:solidFill>
                <a:latin typeface="Calibri Light" panose="020F0302020204030204" charset="0"/>
                <a:cs typeface="Calibri Light" panose="020F0302020204030204" charset="0"/>
              </a:rPr>
              <a:t>	</a:t>
            </a:r>
            <a:r>
              <a:rPr lang="en-US" sz="3600" b="1" dirty="0">
                <a:solidFill>
                  <a:srgbClr val="FF99FF"/>
                </a:solidFill>
                <a:latin typeface="+mj-lt"/>
                <a:cs typeface="+mj-lt"/>
              </a:rPr>
              <a:t>A healthy, literate and wealthy Garissa community</a:t>
            </a:r>
          </a:p>
          <a:p>
            <a:pPr marL="0" indent="0" algn="ctr">
              <a:buNone/>
            </a:pPr>
            <a:r>
              <a:rPr lang="en-US" sz="3600" b="1" dirty="0">
                <a:latin typeface="+mj-lt"/>
                <a:cs typeface="+mj-lt"/>
              </a:rPr>
              <a:t>Mission </a:t>
            </a:r>
          </a:p>
          <a:p>
            <a:pPr algn="ctr"/>
            <a:r>
              <a:rPr lang="en-US" sz="3600" b="1" dirty="0">
                <a:solidFill>
                  <a:schemeClr val="accent4">
                    <a:lumMod val="75000"/>
                  </a:schemeClr>
                </a:solidFill>
                <a:latin typeface="+mj-lt"/>
                <a:cs typeface="+mj-lt"/>
              </a:rPr>
              <a:t>To improve livelihoods and well-being of vulnerable community members through strategic partnerships and implementation of sustainable programs</a:t>
            </a:r>
          </a:p>
          <a:p>
            <a:pPr marL="0" indent="0" algn="ctr">
              <a:buNone/>
            </a:pPr>
            <a:endParaRPr lang="en-US" sz="4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613647"/>
            <a:ext cx="4992976" cy="4199325"/>
          </a:xfrm>
          <a:prstGeom prst="rect">
            <a:avLst/>
          </a:prstGeom>
        </p:spPr>
      </p:pic>
      <p:sp>
        <p:nvSpPr>
          <p:cNvPr id="5" name="TextBox 4"/>
          <p:cNvSpPr txBox="1"/>
          <p:nvPr/>
        </p:nvSpPr>
        <p:spPr>
          <a:xfrm>
            <a:off x="4905955" y="659958"/>
            <a:ext cx="7286046" cy="6492875"/>
          </a:xfrm>
          <a:prstGeom prst="rect">
            <a:avLst/>
          </a:prstGeom>
          <a:noFill/>
        </p:spPr>
        <p:txBody>
          <a:bodyPr wrap="square" rtlCol="0">
            <a:spAutoFit/>
          </a:bodyPr>
          <a:lstStyle/>
          <a:p>
            <a:pPr marL="514350" indent="-514350">
              <a:buFont typeface="Arial" panose="020B0604020202020204" pitchFamily="34" charset="0"/>
              <a:buChar char="•"/>
            </a:pPr>
            <a:r>
              <a:rPr lang="en-US" sz="3200" dirty="0">
                <a:cs typeface="+mn-lt"/>
              </a:rPr>
              <a:t>County Government and Development Partners increase funding for RMNCAH by 5% by 2024</a:t>
            </a:r>
          </a:p>
          <a:p>
            <a:pPr marL="514350" indent="-514350">
              <a:buFont typeface="Arial" panose="020B0604020202020204" pitchFamily="34" charset="0"/>
              <a:buChar char="•"/>
            </a:pPr>
            <a:endParaRPr lang="en-US" sz="3200" dirty="0">
              <a:cs typeface="+mn-lt"/>
            </a:endParaRPr>
          </a:p>
          <a:p>
            <a:pPr marL="514350" indent="-514350">
              <a:buFont typeface="Arial" panose="020B0604020202020204" pitchFamily="34" charset="0"/>
              <a:buChar char="•"/>
            </a:pPr>
            <a:r>
              <a:rPr lang="en-US" sz="3200" dirty="0">
                <a:cs typeface="+mn-lt"/>
              </a:rPr>
              <a:t>Increase male involvement in RMNCAH-N by 35% by 2024</a:t>
            </a:r>
          </a:p>
          <a:p>
            <a:pPr marL="514350" indent="-514350">
              <a:buFont typeface="Arial" panose="020B0604020202020204" pitchFamily="34" charset="0"/>
              <a:buChar char="•"/>
            </a:pPr>
            <a:endParaRPr lang="en-US" sz="3200" dirty="0">
              <a:cs typeface="+mn-lt"/>
            </a:endParaRPr>
          </a:p>
          <a:p>
            <a:pPr marL="514350" indent="-514350">
              <a:buFont typeface="Arial" panose="020B0604020202020204" pitchFamily="34" charset="0"/>
              <a:buChar char="•"/>
            </a:pPr>
            <a:r>
              <a:rPr lang="en-US" sz="3200" b="1" dirty="0">
                <a:cs typeface="+mn-lt"/>
              </a:rPr>
              <a:t>1400</a:t>
            </a:r>
            <a:r>
              <a:rPr lang="en-US" sz="3200" dirty="0">
                <a:cs typeface="+mn-lt"/>
              </a:rPr>
              <a:t> CHVs and CBDs trained and supporting key county health committments</a:t>
            </a:r>
          </a:p>
          <a:p>
            <a:pPr marL="514350" indent="-514350">
              <a:buFont typeface="Arial" panose="020B0604020202020204" pitchFamily="34" charset="0"/>
              <a:buChar char="•"/>
            </a:pPr>
            <a:endParaRPr lang="en-US" sz="3200" dirty="0">
              <a:cs typeface="+mn-lt"/>
            </a:endParaRPr>
          </a:p>
          <a:p>
            <a:pPr marL="514350" indent="-514350">
              <a:buFont typeface="Arial" panose="020B0604020202020204" pitchFamily="34" charset="0"/>
              <a:buChar char="•"/>
            </a:pPr>
            <a:r>
              <a:rPr lang="en-US" sz="3200" b="1" dirty="0">
                <a:cs typeface="+mn-lt"/>
              </a:rPr>
              <a:t>14,000 </a:t>
            </a:r>
            <a:r>
              <a:rPr lang="en-US" sz="3200" dirty="0">
                <a:cs typeface="+mn-lt"/>
              </a:rPr>
              <a:t>male and females reached with messages on NCDs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12607" y="208336"/>
            <a:ext cx="6279393" cy="6429801"/>
          </a:xfrm>
        </p:spPr>
        <p:txBody>
          <a:bodyPr>
            <a:noAutofit/>
          </a:bodyPr>
          <a:lstStyle/>
          <a:p>
            <a:r>
              <a:rPr lang="en-US" sz="4000" b="1" dirty="0"/>
              <a:t>10,500</a:t>
            </a:r>
            <a:r>
              <a:rPr lang="en-US" sz="4000" dirty="0"/>
              <a:t> Boys and Girls enrolled and supported to complete basic education</a:t>
            </a:r>
          </a:p>
          <a:p>
            <a:endParaRPr lang="en-US" sz="4000" dirty="0"/>
          </a:p>
          <a:p>
            <a:r>
              <a:rPr lang="en-US" sz="4000" dirty="0"/>
              <a:t>Improved literacy and numeracy among </a:t>
            </a:r>
            <a:r>
              <a:rPr lang="en-US" sz="4000" b="1" dirty="0"/>
              <a:t>10,500</a:t>
            </a:r>
          </a:p>
          <a:p>
            <a:endParaRPr lang="en-US" sz="4000" dirty="0"/>
          </a:p>
          <a:p>
            <a:r>
              <a:rPr lang="en-US" sz="4000" b="1" dirty="0"/>
              <a:t>3500 </a:t>
            </a:r>
            <a:r>
              <a:rPr lang="en-US" sz="4000" dirty="0"/>
              <a:t>Youth benefit from Vocational Training </a:t>
            </a:r>
          </a:p>
        </p:txBody>
      </p:sp>
      <p:pic>
        <p:nvPicPr>
          <p:cNvPr id="4" name="Picture 3"/>
          <p:cNvPicPr>
            <a:picLocks noChangeAspect="1"/>
          </p:cNvPicPr>
          <p:nvPr/>
        </p:nvPicPr>
        <p:blipFill>
          <a:blip r:embed="rId2"/>
          <a:stretch>
            <a:fillRect/>
          </a:stretch>
        </p:blipFill>
        <p:spPr>
          <a:xfrm>
            <a:off x="0" y="1836484"/>
            <a:ext cx="6008914" cy="31735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Autofit/>
          </a:bodyPr>
          <a:lstStyle/>
          <a:p>
            <a:pPr marL="0" indent="0">
              <a:buNone/>
            </a:pPr>
            <a:r>
              <a:rPr lang="en-US" sz="4800" dirty="0"/>
              <a:t> </a:t>
            </a:r>
          </a:p>
          <a:p>
            <a:pPr marL="0" indent="0">
              <a:buNone/>
            </a:pPr>
            <a:endParaRPr lang="en-US" sz="4800" dirty="0"/>
          </a:p>
          <a:p>
            <a:pPr marL="0" indent="0">
              <a:buNone/>
            </a:pPr>
            <a:r>
              <a:rPr lang="en-US" sz="4800" dirty="0"/>
              <a:t> </a:t>
            </a:r>
          </a:p>
        </p:txBody>
      </p:sp>
      <p:sp>
        <p:nvSpPr>
          <p:cNvPr id="7" name="Content Placeholder 6"/>
          <p:cNvSpPr>
            <a:spLocks noGrp="1"/>
          </p:cNvSpPr>
          <p:nvPr>
            <p:ph sz="half" idx="2"/>
          </p:nvPr>
        </p:nvSpPr>
        <p:spPr>
          <a:xfrm>
            <a:off x="6172200" y="665018"/>
            <a:ext cx="5181600" cy="5511945"/>
          </a:xfrm>
        </p:spPr>
        <p:txBody>
          <a:bodyPr>
            <a:normAutofit/>
          </a:bodyPr>
          <a:lstStyle/>
          <a:p>
            <a:r>
              <a:rPr lang="en-US" dirty="0"/>
              <a:t>Capacity build </a:t>
            </a:r>
            <a:r>
              <a:rPr lang="en-US" b="1" dirty="0"/>
              <a:t>10,500</a:t>
            </a:r>
            <a:r>
              <a:rPr lang="en-US" dirty="0"/>
              <a:t> residents on climate change</a:t>
            </a:r>
          </a:p>
          <a:p>
            <a:endParaRPr lang="en-US" dirty="0"/>
          </a:p>
          <a:p>
            <a:r>
              <a:rPr lang="en-US" dirty="0"/>
              <a:t>Economically empower </a:t>
            </a:r>
            <a:r>
              <a:rPr lang="en-US" b="1" dirty="0"/>
              <a:t>10,500</a:t>
            </a:r>
            <a:r>
              <a:rPr lang="en-US" dirty="0"/>
              <a:t> refugees and host community residents through training </a:t>
            </a:r>
          </a:p>
          <a:p>
            <a:endParaRPr lang="en-US" dirty="0"/>
          </a:p>
          <a:p>
            <a:r>
              <a:rPr lang="en-US" b="1" dirty="0"/>
              <a:t>14,000</a:t>
            </a:r>
            <a:r>
              <a:rPr lang="en-US" dirty="0"/>
              <a:t> women and men sensitized on violent extremism and radicalization</a:t>
            </a:r>
          </a:p>
        </p:txBody>
      </p:sp>
      <p:pic>
        <p:nvPicPr>
          <p:cNvPr id="4" name="Picture 3"/>
          <p:cNvPicPr>
            <a:picLocks noChangeAspect="1"/>
          </p:cNvPicPr>
          <p:nvPr/>
        </p:nvPicPr>
        <p:blipFill>
          <a:blip r:embed="rId2"/>
          <a:stretch>
            <a:fillRect/>
          </a:stretch>
        </p:blipFill>
        <p:spPr>
          <a:xfrm>
            <a:off x="234950" y="1825626"/>
            <a:ext cx="4808855" cy="44437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7937"/>
            <a:ext cx="11880850" cy="1325563"/>
          </a:xfrm>
        </p:spPr>
        <p:txBody>
          <a:bodyPr>
            <a:normAutofit/>
          </a:bodyPr>
          <a:lstStyle/>
          <a:p>
            <a:r>
              <a:rPr lang="en-US" b="1" dirty="0">
                <a:solidFill>
                  <a:schemeClr val="accent1"/>
                </a:solidFill>
                <a:effectLst>
                  <a:outerShdw blurRad="38100" dist="25400" dir="5400000" algn="ctr" rotWithShape="0">
                    <a:srgbClr val="6E747A">
                      <a:alpha val="43000"/>
                    </a:srgbClr>
                  </a:outerShdw>
                </a:effectLst>
              </a:rPr>
              <a:t>State of Population and Maternal Health in Garissa County 2018</a:t>
            </a:r>
            <a:endParaRPr lang="en-US" dirty="0"/>
          </a:p>
        </p:txBody>
      </p:sp>
      <p:sp>
        <p:nvSpPr>
          <p:cNvPr id="14" name="AutoShape 2" descr="C:\Users\test\Desktop\health.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8" name="TextBox 17"/>
          <p:cNvSpPr txBox="1"/>
          <p:nvPr/>
        </p:nvSpPr>
        <p:spPr>
          <a:xfrm>
            <a:off x="460375" y="1333500"/>
            <a:ext cx="6150287" cy="5016758"/>
          </a:xfrm>
          <a:prstGeom prst="rect">
            <a:avLst/>
          </a:prstGeom>
          <a:noFill/>
        </p:spPr>
        <p:txBody>
          <a:bodyPr wrap="square" rtlCol="0">
            <a:spAutoFit/>
          </a:bodyPr>
          <a:lstStyle/>
          <a:p>
            <a:pPr algn="ctr"/>
            <a:endParaRPr lang="en-US" sz="3200" b="1" dirty="0">
              <a:latin typeface="Ink Free" panose="03080402000500000000" pitchFamily="66" charset="0"/>
            </a:endParaRPr>
          </a:p>
          <a:p>
            <a:pPr algn="ctr"/>
            <a:r>
              <a:rPr lang="en-US" sz="3200" b="1" dirty="0">
                <a:latin typeface="+mj-lt"/>
              </a:rPr>
              <a:t>Garissa County has;</a:t>
            </a:r>
          </a:p>
          <a:p>
            <a:pPr algn="ctr"/>
            <a:endParaRPr lang="en-US" sz="3200" b="1" dirty="0">
              <a:latin typeface="+mj-lt"/>
            </a:endParaRPr>
          </a:p>
          <a:p>
            <a:pPr marL="457200" indent="-457200" algn="ctr">
              <a:buFont typeface="Arial" panose="020B0604020202020204" pitchFamily="34" charset="0"/>
              <a:buChar char="•"/>
            </a:pPr>
            <a:r>
              <a:rPr lang="en-US" sz="3200" b="1" dirty="0">
                <a:latin typeface="+mj-lt"/>
              </a:rPr>
              <a:t>a low population density, </a:t>
            </a:r>
          </a:p>
          <a:p>
            <a:pPr marL="457200" indent="-457200" algn="ctr">
              <a:buFont typeface="Arial" panose="020B0604020202020204" pitchFamily="34" charset="0"/>
              <a:buChar char="•"/>
            </a:pPr>
            <a:r>
              <a:rPr lang="en-US" sz="3200" b="1" dirty="0">
                <a:solidFill>
                  <a:schemeClr val="accent1">
                    <a:lumMod val="75000"/>
                  </a:schemeClr>
                </a:solidFill>
                <a:latin typeface="+mj-lt"/>
              </a:rPr>
              <a:t>high growth rate of 3.9% </a:t>
            </a:r>
          </a:p>
          <a:p>
            <a:pPr marL="457200" indent="-457200" algn="ctr">
              <a:buFont typeface="Arial" panose="020B0604020202020204" pitchFamily="34" charset="0"/>
              <a:buChar char="•"/>
            </a:pPr>
            <a:r>
              <a:rPr lang="en-US" sz="3200" b="1" dirty="0">
                <a:solidFill>
                  <a:srgbClr val="FF0000"/>
                </a:solidFill>
                <a:latin typeface="+mj-lt"/>
              </a:rPr>
              <a:t>high fertility rate (6.1%)</a:t>
            </a:r>
          </a:p>
          <a:p>
            <a:pPr indent="0" algn="ctr">
              <a:buFont typeface="Arial" panose="020B0604020202020204" pitchFamily="34" charset="0"/>
              <a:buNone/>
            </a:pPr>
            <a:r>
              <a:rPr lang="en-US" sz="3200" b="1" dirty="0">
                <a:latin typeface="+mj-lt"/>
              </a:rPr>
              <a:t> and  </a:t>
            </a:r>
          </a:p>
          <a:p>
            <a:pPr marL="457200" indent="-457200" algn="ctr">
              <a:buFont typeface="Arial" panose="020B0604020202020204" pitchFamily="34" charset="0"/>
              <a:buChar char="•"/>
            </a:pPr>
            <a:r>
              <a:rPr lang="en-US" sz="3200" b="1" dirty="0">
                <a:solidFill>
                  <a:srgbClr val="00B0F0"/>
                </a:solidFill>
                <a:latin typeface="+mj-lt"/>
              </a:rPr>
              <a:t>a high average household size (5.9)</a:t>
            </a:r>
          </a:p>
          <a:p>
            <a:pPr marL="457200" indent="-457200" algn="ctr"/>
            <a:r>
              <a:rPr lang="en-US" sz="3200" b="1" dirty="0">
                <a:latin typeface="+mj-lt"/>
              </a:rPr>
              <a:t>(All compared to national statistics) </a:t>
            </a:r>
          </a:p>
        </p:txBody>
      </p:sp>
      <p:pic>
        <p:nvPicPr>
          <p:cNvPr id="3" name="Picture 2">
            <a:extLst>
              <a:ext uri="{FF2B5EF4-FFF2-40B4-BE49-F238E27FC236}">
                <a16:creationId xmlns:a16="http://schemas.microsoft.com/office/drawing/2014/main" id="{FB9496C1-6A63-F605-EFF1-DD8AB2B8B1D5}"/>
              </a:ext>
            </a:extLst>
          </p:cNvPr>
          <p:cNvPicPr>
            <a:picLocks noChangeAspect="1"/>
          </p:cNvPicPr>
          <p:nvPr/>
        </p:nvPicPr>
        <p:blipFill>
          <a:blip r:embed="rId2"/>
          <a:stretch>
            <a:fillRect/>
          </a:stretch>
        </p:blipFill>
        <p:spPr>
          <a:xfrm>
            <a:off x="7704944" y="865410"/>
            <a:ext cx="4331481" cy="5509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F953-330B-5213-21E5-E5EBC4477F4C}"/>
              </a:ext>
            </a:extLst>
          </p:cNvPr>
          <p:cNvSpPr>
            <a:spLocks noGrp="1"/>
          </p:cNvSpPr>
          <p:nvPr>
            <p:ph type="title"/>
          </p:nvPr>
        </p:nvSpPr>
        <p:spPr>
          <a:xfrm>
            <a:off x="839788" y="457200"/>
            <a:ext cx="11242284" cy="742013"/>
          </a:xfrm>
        </p:spPr>
        <p:txBody>
          <a:bodyPr>
            <a:normAutofit/>
          </a:bodyPr>
          <a:lstStyle/>
          <a:p>
            <a:pPr algn="ctr"/>
            <a:r>
              <a:rPr lang="en-US" sz="4000" b="1" dirty="0">
                <a:solidFill>
                  <a:schemeClr val="accent1"/>
                </a:solidFill>
                <a:effectLst>
                  <a:outerShdw blurRad="38100" dist="25400" dir="5400000" algn="ctr" rotWithShape="0">
                    <a:srgbClr val="6E747A">
                      <a:alpha val="43000"/>
                    </a:srgbClr>
                  </a:outerShdw>
                </a:effectLst>
                <a:cs typeface="Ink Free" panose="03080402000500000000" pitchFamily="66" charset="0"/>
              </a:rPr>
              <a:t>Garissa County FP Landscape </a:t>
            </a:r>
            <a:endParaRPr lang="en-US" sz="4000" dirty="0"/>
          </a:p>
        </p:txBody>
      </p:sp>
      <p:sp>
        <p:nvSpPr>
          <p:cNvPr id="4" name="Text Placeholder 3">
            <a:extLst>
              <a:ext uri="{FF2B5EF4-FFF2-40B4-BE49-F238E27FC236}">
                <a16:creationId xmlns:a16="http://schemas.microsoft.com/office/drawing/2014/main" id="{71A9E4A9-4A18-9EFA-8DF5-9F8FD7D0B196}"/>
              </a:ext>
            </a:extLst>
          </p:cNvPr>
          <p:cNvSpPr>
            <a:spLocks noGrp="1"/>
          </p:cNvSpPr>
          <p:nvPr>
            <p:ph type="body" sz="half" idx="2"/>
          </p:nvPr>
        </p:nvSpPr>
        <p:spPr>
          <a:xfrm>
            <a:off x="674558" y="1439057"/>
            <a:ext cx="4691922" cy="5081664"/>
          </a:xfrm>
        </p:spPr>
        <p:txBody>
          <a:bodyPr>
            <a:normAutofit fontScale="77500" lnSpcReduction="20000"/>
          </a:bodyPr>
          <a:lstStyle/>
          <a:p>
            <a:pPr marL="571500" indent="-571500" algn="ctr">
              <a:buFont typeface="Arial" panose="020B0604020202020204" pitchFamily="34" charset="0"/>
              <a:buChar char="•"/>
            </a:pPr>
            <a:r>
              <a:rPr lang="en-US" sz="4100" b="1" dirty="0">
                <a:latin typeface="+mj-lt"/>
              </a:rPr>
              <a:t>High Unmet need for modern family Planning </a:t>
            </a:r>
            <a:r>
              <a:rPr lang="en-US" sz="4100" b="1" dirty="0">
                <a:solidFill>
                  <a:srgbClr val="FF0000"/>
                </a:solidFill>
                <a:latin typeface="+mj-lt"/>
              </a:rPr>
              <a:t>29.9% against 18%</a:t>
            </a:r>
            <a:r>
              <a:rPr lang="en-US" sz="4100" b="1" dirty="0">
                <a:latin typeface="+mj-lt"/>
              </a:rPr>
              <a:t> national rate </a:t>
            </a:r>
          </a:p>
          <a:p>
            <a:pPr marL="571500" indent="-571500" algn="ctr">
              <a:buFont typeface="Arial" panose="020B0604020202020204" pitchFamily="34" charset="0"/>
              <a:buChar char="•"/>
            </a:pPr>
            <a:r>
              <a:rPr lang="en-US" sz="4100" b="1" dirty="0">
                <a:latin typeface="+mj-lt"/>
              </a:rPr>
              <a:t> Lower contraceptive prevalence  rate </a:t>
            </a:r>
            <a:r>
              <a:rPr lang="en-US" sz="4100" b="1" dirty="0">
                <a:solidFill>
                  <a:srgbClr val="FF0000"/>
                </a:solidFill>
                <a:latin typeface="+mj-lt"/>
              </a:rPr>
              <a:t>7.1% against 58% </a:t>
            </a:r>
            <a:r>
              <a:rPr lang="en-US" sz="4100" b="1" dirty="0">
                <a:solidFill>
                  <a:schemeClr val="tx1"/>
                </a:solidFill>
                <a:latin typeface="+mj-lt"/>
              </a:rPr>
              <a:t>national rate</a:t>
            </a:r>
            <a:endParaRPr lang="en-US" sz="4100" b="1" dirty="0">
              <a:latin typeface="+mj-lt"/>
            </a:endParaRPr>
          </a:p>
          <a:p>
            <a:pPr marL="571500" indent="-571500" algn="ctr">
              <a:buFont typeface="Arial" panose="020B0604020202020204" pitchFamily="34" charset="0"/>
              <a:buChar char="•"/>
            </a:pPr>
            <a:r>
              <a:rPr lang="en-US" sz="4100" b="1" dirty="0">
                <a:latin typeface="+mj-lt"/>
              </a:rPr>
              <a:t>A high maternal mortality ratio </a:t>
            </a:r>
            <a:r>
              <a:rPr lang="en-US" sz="4100" b="1" dirty="0">
                <a:solidFill>
                  <a:srgbClr val="FF0000"/>
                </a:solidFill>
                <a:latin typeface="+mj-lt"/>
              </a:rPr>
              <a:t>of 646 per 100,000 live births, </a:t>
            </a:r>
            <a:r>
              <a:rPr lang="en-US" sz="4100" b="1" dirty="0">
                <a:latin typeface="+mj-lt"/>
              </a:rPr>
              <a:t>against a national rate of </a:t>
            </a:r>
            <a:r>
              <a:rPr lang="en-US" sz="4100" b="1" dirty="0">
                <a:solidFill>
                  <a:srgbClr val="FF0000"/>
                </a:solidFill>
                <a:latin typeface="+mj-lt"/>
              </a:rPr>
              <a:t>362</a:t>
            </a:r>
            <a:endParaRPr lang="en-US" sz="4100" b="1" dirty="0">
              <a:latin typeface="+mj-lt"/>
            </a:endParaRPr>
          </a:p>
          <a:p>
            <a:endParaRPr lang="en-US" dirty="0"/>
          </a:p>
        </p:txBody>
      </p:sp>
      <p:pic>
        <p:nvPicPr>
          <p:cNvPr id="5" name="Content Placeholder 4">
            <a:extLst>
              <a:ext uri="{FF2B5EF4-FFF2-40B4-BE49-F238E27FC236}">
                <a16:creationId xmlns:a16="http://schemas.microsoft.com/office/drawing/2014/main" id="{FC2939C1-CDCB-A673-4E73-FA0C21563127}"/>
              </a:ext>
            </a:extLst>
          </p:cNvPr>
          <p:cNvPicPr>
            <a:picLocks noGrp="1" noChangeAspect="1"/>
          </p:cNvPicPr>
          <p:nvPr>
            <p:ph idx="1"/>
          </p:nvPr>
        </p:nvPicPr>
        <p:blipFill>
          <a:blip r:embed="rId2"/>
          <a:stretch>
            <a:fillRect/>
          </a:stretch>
        </p:blipFill>
        <p:spPr>
          <a:xfrm>
            <a:off x="6421180" y="1199214"/>
            <a:ext cx="4931032" cy="3837482"/>
          </a:xfrm>
          <a:prstGeom prst="rect">
            <a:avLst/>
          </a:prstGeom>
        </p:spPr>
      </p:pic>
      <p:sp>
        <p:nvSpPr>
          <p:cNvPr id="7" name="TextBox 6">
            <a:extLst>
              <a:ext uri="{FF2B5EF4-FFF2-40B4-BE49-F238E27FC236}">
                <a16:creationId xmlns:a16="http://schemas.microsoft.com/office/drawing/2014/main" id="{AA3A4181-232E-3EBB-F733-D46B8E850D71}"/>
              </a:ext>
            </a:extLst>
          </p:cNvPr>
          <p:cNvSpPr txBox="1"/>
          <p:nvPr/>
        </p:nvSpPr>
        <p:spPr>
          <a:xfrm rot="10800000" flipV="1">
            <a:off x="6095999" y="4931404"/>
            <a:ext cx="5421441" cy="1323439"/>
          </a:xfrm>
          <a:prstGeom prst="rect">
            <a:avLst/>
          </a:prstGeom>
          <a:noFill/>
        </p:spPr>
        <p:txBody>
          <a:bodyPr wrap="square">
            <a:spAutoFit/>
          </a:bodyPr>
          <a:lstStyle/>
          <a:p>
            <a:pPr algn="ctr"/>
            <a:r>
              <a:rPr lang="en-US" sz="2000" b="1" dirty="0">
                <a:latin typeface="Ink Free" panose="03080402000500000000" pitchFamily="66" charset="0"/>
                <a:cs typeface="Ink Free" panose="03080402000500000000" pitchFamily="66" charset="0"/>
              </a:rPr>
              <a:t>Garissa County is way below the National average for Child immunization, Births attended at a health facility and contraceptive prevalence</a:t>
            </a:r>
          </a:p>
        </p:txBody>
      </p:sp>
    </p:spTree>
    <p:extLst>
      <p:ext uri="{BB962C8B-B14F-4D97-AF65-F5344CB8AC3E}">
        <p14:creationId xmlns:p14="http://schemas.microsoft.com/office/powerpoint/2010/main" val="2303197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a:solidFill>
                  <a:schemeClr val="tx1"/>
                </a:solidFill>
                <a:effectLst>
                  <a:outerShdw blurRad="38100" dist="19050" dir="2700000" algn="tl" rotWithShape="0">
                    <a:schemeClr val="dk1">
                      <a:alpha val="40000"/>
                    </a:schemeClr>
                  </a:outerShdw>
                </a:effectLst>
              </a:rPr>
              <a:t>Advocacy for child spacing in Garissa County</a:t>
            </a:r>
          </a:p>
        </p:txBody>
      </p:sp>
      <p:sp>
        <p:nvSpPr>
          <p:cNvPr id="3" name="Content Placeholder 2"/>
          <p:cNvSpPr>
            <a:spLocks noGrp="1"/>
          </p:cNvSpPr>
          <p:nvPr>
            <p:ph idx="1"/>
          </p:nvPr>
        </p:nvSpPr>
        <p:spPr>
          <a:xfrm>
            <a:off x="5183188" y="987425"/>
            <a:ext cx="6172200" cy="5496502"/>
          </a:xfrm>
        </p:spPr>
        <p:txBody>
          <a:bodyPr>
            <a:noAutofit/>
          </a:bodyPr>
          <a:lstStyle/>
          <a:p>
            <a:pPr marL="0" indent="0">
              <a:buNone/>
            </a:pPr>
            <a:r>
              <a:rPr lang="en-US" sz="2400" dirty="0"/>
              <a:t>Project Context:</a:t>
            </a:r>
          </a:p>
          <a:p>
            <a:pPr marL="514350" indent="-514350">
              <a:buAutoNum type="arabicPeriod"/>
            </a:pPr>
            <a:r>
              <a:rPr lang="en-US" sz="2400" dirty="0"/>
              <a:t>This project sought to address missed opportunity for PPFP among post-pregnancy Muslim women with a low </a:t>
            </a:r>
            <a:r>
              <a:rPr lang="en-US" sz="2400" dirty="0" err="1"/>
              <a:t>McPR</a:t>
            </a:r>
            <a:r>
              <a:rPr lang="en-US" sz="2400" dirty="0"/>
              <a:t> of 5.5%, high fertility rate of 6.1% placing the county the 3</a:t>
            </a:r>
            <a:r>
              <a:rPr lang="en-US" sz="2400" baseline="30000" dirty="0"/>
              <a:t>rd</a:t>
            </a:r>
            <a:r>
              <a:rPr lang="en-US" sz="2400" dirty="0"/>
              <a:t> position of contraception use in Kenya.</a:t>
            </a:r>
          </a:p>
          <a:p>
            <a:pPr marL="514350" indent="-514350">
              <a:buAutoNum type="arabicPeriod"/>
            </a:pPr>
            <a:r>
              <a:rPr lang="en-US" sz="2400" dirty="0"/>
              <a:t>There were no records to indicate that women receiving ANC are counselled on PPFP</a:t>
            </a:r>
            <a:endParaRPr lang="en-US" sz="2400" b="1" dirty="0"/>
          </a:p>
          <a:p>
            <a:pPr marL="514350" indent="-514350">
              <a:buAutoNum type="arabicPeriod"/>
            </a:pPr>
            <a:r>
              <a:rPr lang="en-US" sz="2400" dirty="0"/>
              <a:t>47.4% of husbands/ Partners did not know about contraception</a:t>
            </a:r>
          </a:p>
          <a:p>
            <a:pPr marL="514350" indent="-514350">
              <a:buAutoNum type="arabicPeriod"/>
            </a:pPr>
            <a:r>
              <a:rPr lang="en-US" sz="2400" dirty="0"/>
              <a:t>The county is at 98% predominantly Muslim community with 94.5% not using any methods of contraception.</a:t>
            </a:r>
          </a:p>
          <a:p>
            <a:pPr marL="514350" indent="-514350">
              <a:buAutoNum type="arabicPeriod"/>
            </a:pPr>
            <a:endParaRPr lang="en-US" sz="1500" dirty="0"/>
          </a:p>
        </p:txBody>
      </p:sp>
      <p:sp>
        <p:nvSpPr>
          <p:cNvPr id="7" name="Text Placeholder 6"/>
          <p:cNvSpPr>
            <a:spLocks noGrp="1"/>
          </p:cNvSpPr>
          <p:nvPr>
            <p:ph type="body" sz="half" idx="2"/>
          </p:nvPr>
        </p:nvSpPr>
        <p:spPr/>
        <p:txBody>
          <a:bodyPr/>
          <a:lstStyle/>
          <a:p>
            <a:r>
              <a:rPr lang="en-US" sz="2800" dirty="0">
                <a:solidFill>
                  <a:srgbClr val="002060"/>
                </a:solidFill>
                <a:sym typeface="+mn-ea"/>
              </a:rPr>
              <a:t>2019- 2020 </a:t>
            </a:r>
            <a:r>
              <a:rPr lang="en-US" sz="2800" dirty="0" err="1">
                <a:solidFill>
                  <a:srgbClr val="002060"/>
                </a:solidFill>
                <a:sym typeface="+mn-ea"/>
              </a:rPr>
              <a:t>FoH</a:t>
            </a:r>
            <a:r>
              <a:rPr lang="en-US" sz="2800" dirty="0">
                <a:solidFill>
                  <a:srgbClr val="002060"/>
                </a:solidFill>
                <a:sym typeface="+mn-ea"/>
              </a:rPr>
              <a:t> received $50,000 from FP2020</a:t>
            </a:r>
          </a:p>
          <a:p>
            <a:r>
              <a:rPr lang="en-US" sz="2800" dirty="0" err="1">
                <a:solidFill>
                  <a:srgbClr val="002060"/>
                </a:solidFill>
                <a:sym typeface="+mn-ea"/>
              </a:rPr>
              <a:t>FoH</a:t>
            </a:r>
            <a:r>
              <a:rPr lang="en-US" sz="2800" dirty="0">
                <a:solidFill>
                  <a:srgbClr val="002060"/>
                </a:solidFill>
                <a:sym typeface="+mn-ea"/>
              </a:rPr>
              <a:t> implemented a 6 months RRM “Advocacy for Post Partum Family Planning Among Married Muslim Women in Garissa County” </a:t>
            </a:r>
            <a:endParaRPr lang="en-US" sz="2800" dirty="0">
              <a:solidFill>
                <a:srgbClr val="002060"/>
              </a:solidFill>
            </a:endParaRPr>
          </a:p>
          <a:p>
            <a:endParaRPr lang="en-US" sz="2800" dirty="0">
              <a:solidFill>
                <a:srgbClr val="00206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90945" y="318655"/>
            <a:ext cx="7856683" cy="5570756"/>
          </a:xfrm>
          <a:prstGeom prst="rect">
            <a:avLst/>
          </a:prstGeom>
        </p:spPr>
        <p:txBody>
          <a:bodyPr wrap="square">
            <a:spAutoFit/>
          </a:bodyPr>
          <a:lstStyle/>
          <a:p>
            <a:r>
              <a:rPr lang="en-GB" sz="4400" b="1" dirty="0">
                <a:latin typeface="+mj-lt"/>
                <a:ea typeface="Times New Roman" panose="02020603050405020304" pitchFamily="18" charset="0"/>
                <a:cs typeface="+mj-lt"/>
              </a:rPr>
              <a:t>Advocacy activities,,, </a:t>
            </a:r>
          </a:p>
          <a:p>
            <a:pPr marL="342900" indent="-342900">
              <a:buFont typeface="+mj-lt"/>
              <a:buAutoNum type="arabicPeriod"/>
            </a:pPr>
            <a:endParaRPr lang="en-GB" sz="2400" b="1" dirty="0">
              <a:latin typeface="+mj-lt"/>
              <a:ea typeface="Times New Roman" panose="02020603050405020304" pitchFamily="18" charset="0"/>
              <a:cs typeface="+mj-lt"/>
            </a:endParaRPr>
          </a:p>
          <a:p>
            <a:pPr marL="342900" indent="-342900">
              <a:buFont typeface="+mj-lt"/>
              <a:buAutoNum type="arabicPeriod"/>
            </a:pPr>
            <a:r>
              <a:rPr lang="en-GB" sz="2400" b="1" dirty="0">
                <a:latin typeface="+mj-lt"/>
                <a:ea typeface="Times New Roman" panose="02020603050405020304" pitchFamily="18" charset="0"/>
                <a:cs typeface="+mj-lt"/>
              </a:rPr>
              <a:t>Meeting with the CEC, Director- Health</a:t>
            </a:r>
            <a:endParaRPr lang="en-GB" sz="2400" dirty="0">
              <a:latin typeface="+mj-lt"/>
              <a:ea typeface="Times New Roman" panose="02020603050405020304" pitchFamily="18" charset="0"/>
              <a:cs typeface="+mj-lt"/>
            </a:endParaRPr>
          </a:p>
          <a:p>
            <a:pPr marL="342900" indent="-342900">
              <a:buFont typeface="+mj-lt"/>
              <a:buAutoNum type="arabicPeriod"/>
            </a:pPr>
            <a:r>
              <a:rPr lang="en-US" sz="2400" b="1" dirty="0">
                <a:latin typeface="+mj-lt"/>
                <a:cs typeface="+mj-lt"/>
              </a:rPr>
              <a:t>Planning and landscape assessment meeting on PPFP</a:t>
            </a:r>
          </a:p>
          <a:p>
            <a:pPr marL="342900" indent="-342900">
              <a:buFont typeface="+mj-lt"/>
              <a:buAutoNum type="arabicPeriod"/>
            </a:pPr>
            <a:r>
              <a:rPr lang="en-US" sz="2400" b="1" dirty="0">
                <a:latin typeface="+mj-lt"/>
                <a:cs typeface="+mj-lt"/>
              </a:rPr>
              <a:t>Advocacy Strategy Workshop</a:t>
            </a:r>
          </a:p>
          <a:p>
            <a:pPr marL="342900" indent="-342900">
              <a:buFont typeface="+mj-lt"/>
              <a:buAutoNum type="arabicPeriod"/>
            </a:pPr>
            <a:r>
              <a:rPr lang="en-US" sz="2400" b="1" dirty="0">
                <a:latin typeface="+mj-lt"/>
                <a:cs typeface="+mj-lt"/>
              </a:rPr>
              <a:t>PPFP Committee Meeting</a:t>
            </a:r>
          </a:p>
          <a:p>
            <a:pPr marL="342900" indent="-342900">
              <a:buFont typeface="+mj-lt"/>
              <a:buAutoNum type="arabicPeriod"/>
            </a:pPr>
            <a:r>
              <a:rPr lang="en-US" sz="2400" b="1" dirty="0">
                <a:latin typeface="+mj-lt"/>
                <a:cs typeface="+mj-lt"/>
              </a:rPr>
              <a:t>Joint Health Management Team Meeting</a:t>
            </a:r>
          </a:p>
          <a:p>
            <a:pPr marL="342900" indent="-342900">
              <a:buFont typeface="+mj-lt"/>
              <a:buAutoNum type="arabicPeriod"/>
            </a:pPr>
            <a:r>
              <a:rPr lang="en-US" sz="2400" b="1" dirty="0">
                <a:latin typeface="+mj-lt"/>
                <a:cs typeface="+mj-lt"/>
              </a:rPr>
              <a:t>Meeting with CEC and County Director of Health</a:t>
            </a:r>
          </a:p>
          <a:p>
            <a:pPr marL="342900" indent="-342900">
              <a:buFont typeface="+mj-lt"/>
              <a:buAutoNum type="arabicPeriod"/>
            </a:pPr>
            <a:r>
              <a:rPr lang="en-US" sz="2400" b="1" dirty="0">
                <a:latin typeface="+mj-lt"/>
                <a:cs typeface="+mj-lt"/>
              </a:rPr>
              <a:t>Meeting with Medical Superintendents and Facility In-Charges</a:t>
            </a:r>
          </a:p>
          <a:p>
            <a:pPr marL="342900" indent="-342900">
              <a:buFont typeface="+mj-lt"/>
              <a:buAutoNum type="arabicPeriod"/>
            </a:pPr>
            <a:r>
              <a:rPr lang="en-US" sz="2400" b="1" dirty="0">
                <a:latin typeface="+mj-lt"/>
                <a:cs typeface="+mj-lt"/>
              </a:rPr>
              <a:t>Provider Training on FP</a:t>
            </a:r>
          </a:p>
          <a:p>
            <a:pPr marL="342900" indent="-342900">
              <a:buFont typeface="+mj-lt"/>
              <a:buAutoNum type="arabicPeriod"/>
            </a:pPr>
            <a:r>
              <a:rPr lang="en-US" sz="2400" b="1" dirty="0">
                <a:latin typeface="+mj-lt"/>
                <a:cs typeface="+mj-lt"/>
              </a:rPr>
              <a:t>Meeting with male and female community opinion leaders</a:t>
            </a:r>
          </a:p>
          <a:p>
            <a:pPr marL="342900" indent="-342900">
              <a:buFont typeface="+mj-lt"/>
              <a:buAutoNum type="arabicPeriod"/>
            </a:pPr>
            <a:r>
              <a:rPr lang="en-US" sz="2400" b="1" dirty="0">
                <a:latin typeface="+mj-lt"/>
                <a:cs typeface="+mj-lt"/>
              </a:rPr>
              <a:t>Meeting with male and female faith leaders </a:t>
            </a:r>
          </a:p>
          <a:p>
            <a:pPr marL="342900" indent="-342900">
              <a:buFont typeface="+mj-lt"/>
              <a:buAutoNum type="arabicPeriod"/>
            </a:pPr>
            <a:r>
              <a:rPr lang="en-US" sz="2400" b="1" dirty="0">
                <a:latin typeface="+mj-lt"/>
                <a:cs typeface="+mj-lt"/>
              </a:rPr>
              <a:t>Community Dialogue Meetings</a:t>
            </a:r>
          </a:p>
        </p:txBody>
      </p:sp>
      <p:pic>
        <p:nvPicPr>
          <p:cNvPr id="2" name="Picture 1"/>
          <p:cNvPicPr>
            <a:picLocks noChangeAspect="1"/>
          </p:cNvPicPr>
          <p:nvPr/>
        </p:nvPicPr>
        <p:blipFill>
          <a:blip r:embed="rId2"/>
          <a:stretch>
            <a:fillRect/>
          </a:stretch>
        </p:blipFill>
        <p:spPr>
          <a:xfrm>
            <a:off x="8147628" y="1708850"/>
            <a:ext cx="3902605" cy="3890755"/>
          </a:xfrm>
          <a:prstGeom prst="rect">
            <a:avLst/>
          </a:prstGeom>
          <a:effectLst>
            <a:softEdge rad="63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9556" y="429491"/>
            <a:ext cx="6962993" cy="6346993"/>
          </a:xfrm>
        </p:spPr>
        <p:txBody>
          <a:bodyPr>
            <a:normAutofit/>
          </a:bodyPr>
          <a:lstStyle/>
          <a:p>
            <a:pPr marL="0" indent="0">
              <a:buNone/>
            </a:pPr>
            <a:r>
              <a:rPr lang="en-GB" sz="4400" b="1" dirty="0">
                <a:latin typeface="+mj-lt"/>
                <a:ea typeface="Times New Roman" panose="02020603050405020304" pitchFamily="18" charset="0"/>
                <a:cs typeface="+mj-lt"/>
              </a:rPr>
              <a:t>Details of Advocacy activities </a:t>
            </a:r>
          </a:p>
          <a:p>
            <a:pPr marL="0" indent="0">
              <a:buNone/>
            </a:pPr>
            <a:r>
              <a:rPr lang="en-US" dirty="0">
                <a:solidFill>
                  <a:srgbClr val="002060"/>
                </a:solidFill>
              </a:rPr>
              <a:t>1. Conducted sensitization, strategy and planning meetings for key stakeholders in Garissa County</a:t>
            </a:r>
          </a:p>
          <a:p>
            <a:pPr lvl="1"/>
            <a:r>
              <a:rPr lang="en-US" dirty="0">
                <a:highlight>
                  <a:srgbClr val="FFFF00"/>
                </a:highlight>
              </a:rPr>
              <a:t>10 (5M, 5F) – CEC health and Director –County Health Service and Chief Medical Officer </a:t>
            </a:r>
          </a:p>
          <a:p>
            <a:pPr lvl="1"/>
            <a:r>
              <a:rPr lang="en-US" dirty="0">
                <a:highlight>
                  <a:srgbClr val="FFFF00"/>
                </a:highlight>
              </a:rPr>
              <a:t>15 (8M, 7F) – Superintendents in charge of facilities</a:t>
            </a:r>
          </a:p>
          <a:p>
            <a:pPr lvl="1"/>
            <a:r>
              <a:rPr lang="en-US" dirty="0">
                <a:highlight>
                  <a:srgbClr val="FFFF00"/>
                </a:highlight>
              </a:rPr>
              <a:t>Held advocacy meeting with 40 (23M, 17F)</a:t>
            </a:r>
          </a:p>
          <a:p>
            <a:r>
              <a:rPr lang="en-US" dirty="0">
                <a:solidFill>
                  <a:srgbClr val="002060"/>
                </a:solidFill>
                <a:highlight>
                  <a:srgbClr val="FFFF00"/>
                </a:highlight>
              </a:rPr>
              <a:t>Deliberated on county readiness and commitment to offer FP services </a:t>
            </a:r>
          </a:p>
          <a:p>
            <a:r>
              <a:rPr lang="en-US" dirty="0">
                <a:solidFill>
                  <a:srgbClr val="002060"/>
                </a:solidFill>
                <a:highlight>
                  <a:srgbClr val="FFFF00"/>
                </a:highlight>
              </a:rPr>
              <a:t>Planned for roll out of the project targeting communities </a:t>
            </a:r>
          </a:p>
          <a:p>
            <a:r>
              <a:rPr lang="en-US" dirty="0">
                <a:solidFill>
                  <a:srgbClr val="002060"/>
                </a:solidFill>
                <a:highlight>
                  <a:srgbClr val="FFFF00"/>
                </a:highlight>
              </a:rPr>
              <a:t>Developed project sustainability strategies  </a:t>
            </a:r>
          </a:p>
        </p:txBody>
      </p:sp>
      <p:pic>
        <p:nvPicPr>
          <p:cNvPr id="2" name="Picture 1"/>
          <p:cNvPicPr>
            <a:picLocks noChangeAspect="1"/>
          </p:cNvPicPr>
          <p:nvPr/>
        </p:nvPicPr>
        <p:blipFill>
          <a:blip r:embed="rId2"/>
          <a:stretch>
            <a:fillRect/>
          </a:stretch>
        </p:blipFill>
        <p:spPr>
          <a:xfrm>
            <a:off x="7381793" y="1304260"/>
            <a:ext cx="4810207" cy="47952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691"/>
            <a:ext cx="10515600" cy="928255"/>
          </a:xfrm>
        </p:spPr>
        <p:txBody>
          <a:bodyPr>
            <a:normAutofit fontScale="90000"/>
          </a:bodyPr>
          <a:lstStyle/>
          <a:p>
            <a:br>
              <a:rPr lang="en-GB" sz="4400" b="1" dirty="0">
                <a:latin typeface="+mj-lt"/>
                <a:ea typeface="Times New Roman" panose="02020603050405020304" pitchFamily="18" charset="0"/>
                <a:cs typeface="+mj-lt"/>
              </a:rPr>
            </a:br>
            <a:br>
              <a:rPr lang="en-GB" sz="4400" b="1" dirty="0">
                <a:latin typeface="+mj-lt"/>
                <a:ea typeface="Times New Roman" panose="02020603050405020304" pitchFamily="18" charset="0"/>
                <a:cs typeface="+mj-lt"/>
              </a:rPr>
            </a:br>
            <a:r>
              <a:rPr lang="en-GB" sz="4400" b="1" dirty="0">
                <a:latin typeface="+mj-lt"/>
                <a:ea typeface="Times New Roman" panose="02020603050405020304" pitchFamily="18" charset="0"/>
                <a:cs typeface="+mj-lt"/>
              </a:rPr>
              <a:t>Details of Advocacy activities </a:t>
            </a:r>
            <a:r>
              <a:rPr lang="en-GB" sz="4400" b="1" dirty="0" err="1">
                <a:latin typeface="+mj-lt"/>
                <a:ea typeface="Times New Roman" panose="02020603050405020304" pitchFamily="18" charset="0"/>
                <a:cs typeface="+mj-lt"/>
              </a:rPr>
              <a:t>cont</a:t>
            </a:r>
            <a:r>
              <a:rPr lang="en-GB" sz="4400" b="1" dirty="0">
                <a:latin typeface="+mj-lt"/>
                <a:ea typeface="Times New Roman" panose="02020603050405020304" pitchFamily="18" charset="0"/>
                <a:cs typeface="+mj-lt"/>
              </a:rPr>
              <a:t>’</a:t>
            </a:r>
            <a:br>
              <a:rPr lang="en-GB" sz="4400" b="1" dirty="0">
                <a:latin typeface="+mj-lt"/>
                <a:ea typeface="Times New Roman" panose="02020603050405020304" pitchFamily="18" charset="0"/>
                <a:cs typeface="+mj-lt"/>
              </a:rPr>
            </a:br>
            <a:br>
              <a:rPr lang="en-GB" sz="4400" b="1" dirty="0">
                <a:latin typeface="+mj-lt"/>
                <a:ea typeface="Times New Roman" panose="02020603050405020304" pitchFamily="18" charset="0"/>
                <a:cs typeface="+mj-lt"/>
              </a:rPr>
            </a:br>
            <a:endParaRPr lang="en-US" dirty="0"/>
          </a:p>
        </p:txBody>
      </p:sp>
      <p:sp>
        <p:nvSpPr>
          <p:cNvPr id="3" name="Content Placeholder 2"/>
          <p:cNvSpPr>
            <a:spLocks noGrp="1"/>
          </p:cNvSpPr>
          <p:nvPr>
            <p:ph idx="1"/>
          </p:nvPr>
        </p:nvSpPr>
        <p:spPr>
          <a:xfrm>
            <a:off x="108156" y="1454727"/>
            <a:ext cx="8440421" cy="5064060"/>
          </a:xfrm>
        </p:spPr>
        <p:txBody>
          <a:bodyPr/>
          <a:lstStyle/>
          <a:p>
            <a:r>
              <a:rPr lang="en-US" dirty="0">
                <a:solidFill>
                  <a:srgbClr val="002060"/>
                </a:solidFill>
              </a:rPr>
              <a:t>Provider Training on FP for 20 (7M, 13F) on;</a:t>
            </a:r>
            <a:endParaRPr lang="en-US" dirty="0"/>
          </a:p>
          <a:p>
            <a:pPr lvl="1"/>
            <a:r>
              <a:rPr lang="en-US" dirty="0"/>
              <a:t>Advanced FP Smart Approach</a:t>
            </a:r>
          </a:p>
          <a:p>
            <a:pPr lvl="1"/>
            <a:r>
              <a:rPr lang="en-US" dirty="0"/>
              <a:t>Kenya National FP Landscape </a:t>
            </a:r>
          </a:p>
          <a:p>
            <a:pPr lvl="1"/>
            <a:r>
              <a:rPr lang="en-US" dirty="0"/>
              <a:t>Comparative CPR for various counties </a:t>
            </a:r>
          </a:p>
          <a:p>
            <a:pPr lvl="1"/>
            <a:r>
              <a:rPr lang="en-US" dirty="0"/>
              <a:t>Culturally &amp; Religious Sensitive FP Service provision </a:t>
            </a:r>
          </a:p>
          <a:p>
            <a:r>
              <a:rPr lang="en-US" dirty="0">
                <a:solidFill>
                  <a:srgbClr val="002060"/>
                </a:solidFill>
              </a:rPr>
              <a:t>Increased the capacity of the service providers to use culturally and religious sensitive language during administration of FP services among Muslim women </a:t>
            </a:r>
          </a:p>
          <a:p>
            <a:endParaRPr lang="en-US" dirty="0">
              <a:solidFill>
                <a:srgbClr val="00206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3637" y="1263715"/>
            <a:ext cx="3558363" cy="5594285"/>
          </a:xfrm>
          <a:prstGeom prst="rect">
            <a:avLst/>
          </a:prstGeom>
          <a:effectLst>
            <a:softEdge rad="12700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CD3F4C-B73D-0296-83B7-A4839DB5317C}"/>
              </a:ext>
            </a:extLst>
          </p:cNvPr>
          <p:cNvSpPr>
            <a:spLocks noGrp="1"/>
          </p:cNvSpPr>
          <p:nvPr>
            <p:ph type="title"/>
          </p:nvPr>
        </p:nvSpPr>
        <p:spPr>
          <a:xfrm>
            <a:off x="838200" y="365125"/>
            <a:ext cx="10515600" cy="949967"/>
          </a:xfrm>
        </p:spPr>
        <p:txBody>
          <a:bodyPr>
            <a:normAutofit fontScale="90000"/>
          </a:bodyPr>
          <a:lstStyle/>
          <a:p>
            <a:br>
              <a:rPr lang="en-GB" sz="4400" b="1" dirty="0">
                <a:latin typeface="+mj-lt"/>
                <a:ea typeface="Times New Roman" panose="02020603050405020304" pitchFamily="18" charset="0"/>
                <a:cs typeface="+mj-lt"/>
              </a:rPr>
            </a:br>
            <a:r>
              <a:rPr lang="en-GB" sz="4400" b="1" dirty="0">
                <a:latin typeface="+mj-lt"/>
                <a:ea typeface="Times New Roman" panose="02020603050405020304" pitchFamily="18" charset="0"/>
                <a:cs typeface="+mj-lt"/>
              </a:rPr>
              <a:t>Details of Advocacy activities </a:t>
            </a:r>
            <a:r>
              <a:rPr lang="en-GB" sz="4400" b="1" dirty="0" err="1">
                <a:latin typeface="+mj-lt"/>
                <a:ea typeface="Times New Roman" panose="02020603050405020304" pitchFamily="18" charset="0"/>
                <a:cs typeface="+mj-lt"/>
              </a:rPr>
              <a:t>cont</a:t>
            </a:r>
            <a:r>
              <a:rPr lang="en-GB" sz="4400" b="1" dirty="0">
                <a:latin typeface="+mj-lt"/>
                <a:ea typeface="Times New Roman" panose="02020603050405020304" pitchFamily="18" charset="0"/>
                <a:cs typeface="+mj-lt"/>
              </a:rPr>
              <a:t>’</a:t>
            </a:r>
            <a:br>
              <a:rPr lang="en-GB" sz="4400" b="1" dirty="0">
                <a:latin typeface="+mj-lt"/>
                <a:ea typeface="Times New Roman" panose="02020603050405020304" pitchFamily="18" charset="0"/>
                <a:cs typeface="+mj-lt"/>
              </a:rPr>
            </a:br>
            <a:endParaRPr lang="en-US" dirty="0"/>
          </a:p>
        </p:txBody>
      </p:sp>
      <p:sp>
        <p:nvSpPr>
          <p:cNvPr id="3" name="Content Placeholder 2"/>
          <p:cNvSpPr>
            <a:spLocks noGrp="1"/>
          </p:cNvSpPr>
          <p:nvPr>
            <p:ph sz="half" idx="1"/>
          </p:nvPr>
        </p:nvSpPr>
        <p:spPr>
          <a:xfrm>
            <a:off x="838200" y="1825625"/>
            <a:ext cx="3345873" cy="4351338"/>
          </a:xfrm>
        </p:spPr>
        <p:txBody>
          <a:bodyPr>
            <a:normAutofit/>
          </a:bodyPr>
          <a:lstStyle/>
          <a:p>
            <a:r>
              <a:rPr lang="en-US" dirty="0"/>
              <a:t>Held Advocacy Meetings opinion Leaders in Garissa</a:t>
            </a:r>
          </a:p>
          <a:p>
            <a:r>
              <a:rPr lang="en-US" dirty="0"/>
              <a:t>Increased goodwill and support for FP services in the county </a:t>
            </a:r>
          </a:p>
          <a:p>
            <a:r>
              <a:rPr lang="en-US" dirty="0"/>
              <a:t>Led to increased demand for FP services</a:t>
            </a:r>
          </a:p>
        </p:txBody>
      </p:sp>
      <p:sp>
        <p:nvSpPr>
          <p:cNvPr id="7" name="Content Placeholder 6">
            <a:extLst>
              <a:ext uri="{FF2B5EF4-FFF2-40B4-BE49-F238E27FC236}">
                <a16:creationId xmlns:a16="http://schemas.microsoft.com/office/drawing/2014/main" id="{5BDDCF27-325B-442D-23A2-6F66B35EA6AF}"/>
              </a:ext>
            </a:extLst>
          </p:cNvPr>
          <p:cNvSpPr>
            <a:spLocks noGrp="1"/>
          </p:cNvSpPr>
          <p:nvPr>
            <p:ph sz="half" idx="2"/>
          </p:nvPr>
        </p:nvSpPr>
        <p:spPr/>
        <p:txBody>
          <a:bodyPr/>
          <a:lstStyle/>
          <a:p>
            <a:endParaRPr lang="en-US"/>
          </a:p>
        </p:txBody>
      </p:sp>
      <p:graphicFrame>
        <p:nvGraphicFramePr>
          <p:cNvPr id="4" name="Diagram 3"/>
          <p:cNvGraphicFramePr/>
          <p:nvPr/>
        </p:nvGraphicFramePr>
        <p:xfrm>
          <a:off x="4073299" y="1315092"/>
          <a:ext cx="7981474" cy="52837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36"/>
            <a:ext cx="11333018" cy="1979295"/>
          </a:xfrm>
        </p:spPr>
        <p:txBody>
          <a:bodyPr>
            <a:normAutofit/>
          </a:bodyPr>
          <a:lstStyle/>
          <a:p>
            <a:r>
              <a:rPr lang="en-US" sz="6000" b="1" dirty="0">
                <a:solidFill>
                  <a:schemeClr val="accent1"/>
                </a:solidFill>
                <a:effectLst>
                  <a:outerShdw blurRad="38100" dist="25400" dir="5400000" algn="ctr" rotWithShape="0">
                    <a:srgbClr val="6E747A">
                      <a:alpha val="43000"/>
                    </a:srgbClr>
                  </a:outerShdw>
                </a:effectLst>
              </a:rPr>
              <a:t>   Gender-lensed Advocacy Project</a:t>
            </a:r>
          </a:p>
        </p:txBody>
      </p:sp>
      <p:sp>
        <p:nvSpPr>
          <p:cNvPr id="3" name="Content Placeholder 2"/>
          <p:cNvSpPr>
            <a:spLocks noGrp="1"/>
          </p:cNvSpPr>
          <p:nvPr>
            <p:ph idx="1"/>
          </p:nvPr>
        </p:nvSpPr>
        <p:spPr>
          <a:xfrm>
            <a:off x="325754" y="1979931"/>
            <a:ext cx="10300681" cy="2079452"/>
          </a:xfrm>
        </p:spPr>
        <p:txBody>
          <a:bodyPr>
            <a:normAutofit fontScale="97500"/>
          </a:bodyPr>
          <a:lstStyle/>
          <a:p>
            <a:pPr marL="0" indent="0" algn="ctr">
              <a:buNone/>
            </a:pPr>
            <a:r>
              <a:rPr lang="en-US" sz="4000" dirty="0"/>
              <a:t>This project received a funding of USD20,000 from Jhpiego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527"/>
            <a:ext cx="10515600" cy="1590098"/>
          </a:xfrm>
        </p:spPr>
        <p:txBody>
          <a:bodyPr>
            <a:normAutofit/>
            <a:scene3d>
              <a:camera prst="orthographicFront"/>
              <a:lightRig rig="threePt" dir="t"/>
            </a:scene3d>
          </a:bodyPr>
          <a:lstStyle/>
          <a:p>
            <a:pPr algn="ctr"/>
            <a:r>
              <a:rPr lang="en-US" b="1" i="1" dirty="0">
                <a:solidFill>
                  <a:schemeClr val="accent1"/>
                </a:solidFill>
                <a:effectLst>
                  <a:outerShdw blurRad="38100" dist="25400" dir="5400000" algn="ctr" rotWithShape="0">
                    <a:srgbClr val="6E747A">
                      <a:alpha val="43000"/>
                    </a:srgbClr>
                  </a:outerShdw>
                </a:effectLst>
              </a:rPr>
              <a:t>Gender-lensed Advocacy in RMNCAH-N</a:t>
            </a:r>
          </a:p>
        </p:txBody>
      </p:sp>
      <p:sp>
        <p:nvSpPr>
          <p:cNvPr id="3" name="Content Placeholder 2"/>
          <p:cNvSpPr>
            <a:spLocks noGrp="1"/>
          </p:cNvSpPr>
          <p:nvPr>
            <p:ph idx="1"/>
          </p:nvPr>
        </p:nvSpPr>
        <p:spPr/>
        <p:txBody>
          <a:bodyPr>
            <a:normAutofit lnSpcReduction="10000"/>
          </a:bodyPr>
          <a:lstStyle/>
          <a:p>
            <a:pPr marL="0" indent="0">
              <a:buNone/>
            </a:pPr>
            <a:r>
              <a:rPr lang="en-US" b="1" dirty="0"/>
              <a:t>Objective: </a:t>
            </a:r>
            <a:endParaRPr lang="en-US" dirty="0"/>
          </a:p>
          <a:p>
            <a:r>
              <a:rPr lang="en-US" dirty="0"/>
              <a:t>Increase uptake of FP as part RMNCAH-N services in Garissa Township through enhanced male participation </a:t>
            </a:r>
          </a:p>
          <a:p>
            <a:pPr marL="0" indent="0">
              <a:buNone/>
            </a:pPr>
            <a:r>
              <a:rPr lang="en-US" b="1" dirty="0"/>
              <a:t>Activity:</a:t>
            </a:r>
            <a:r>
              <a:rPr lang="en-US" dirty="0"/>
              <a:t> </a:t>
            </a:r>
          </a:p>
          <a:p>
            <a:r>
              <a:rPr lang="en-US" dirty="0"/>
              <a:t>Trained 17 males and 13 females as FP champions in a 2 days forum</a:t>
            </a:r>
          </a:p>
          <a:p>
            <a:pPr marL="0" indent="0">
              <a:buNone/>
            </a:pPr>
            <a:r>
              <a:rPr lang="en-US" b="1" dirty="0"/>
              <a:t>Output:</a:t>
            </a:r>
            <a:r>
              <a:rPr lang="en-US" dirty="0"/>
              <a:t> </a:t>
            </a:r>
          </a:p>
          <a:p>
            <a:r>
              <a:rPr lang="en-US" dirty="0"/>
              <a:t>Leaders present made a personal commitment to use their influential positions in the society to drum up support for male involvement in RMNCAH service provision and access; and address issues of SGBV, through signing a joint communique.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r>
              <a:rPr lang="en-US" b="1" i="1">
                <a:solidFill>
                  <a:schemeClr val="accent1"/>
                </a:solidFill>
                <a:effectLst>
                  <a:outerShdw blurRad="38100" dist="25400" dir="5400000" algn="ctr" rotWithShape="0">
                    <a:srgbClr val="6E747A">
                      <a:alpha val="43000"/>
                    </a:srgbClr>
                  </a:outerShdw>
                </a:effectLst>
                <a:sym typeface="+mn-ea"/>
              </a:rPr>
              <a:t>Gender-lensed Advocacy Against SGBV</a:t>
            </a:r>
            <a:endParaRPr lang="en-US"/>
          </a:p>
        </p:txBody>
      </p:sp>
      <p:sp>
        <p:nvSpPr>
          <p:cNvPr id="4" name="Content Placeholder 3"/>
          <p:cNvSpPr>
            <a:spLocks noGrp="1"/>
          </p:cNvSpPr>
          <p:nvPr>
            <p:ph idx="1"/>
          </p:nvPr>
        </p:nvSpPr>
        <p:spPr>
          <a:xfrm>
            <a:off x="838200" y="1825625"/>
            <a:ext cx="10515600" cy="4923790"/>
          </a:xfrm>
        </p:spPr>
        <p:txBody>
          <a:bodyPr>
            <a:normAutofit fontScale="92500"/>
          </a:bodyPr>
          <a:lstStyle/>
          <a:p>
            <a:pPr marL="0" indent="0">
              <a:buNone/>
            </a:pPr>
            <a:r>
              <a:rPr lang="en-US" b="1"/>
              <a:t>Objective:</a:t>
            </a:r>
            <a:endParaRPr lang="en-US"/>
          </a:p>
          <a:p>
            <a:r>
              <a:rPr lang="en-US"/>
              <a:t>Communities in Balambala report and support legal and medical care mechanisms with care givers of SGBV involving children and young people</a:t>
            </a:r>
          </a:p>
          <a:p>
            <a:pPr marL="0" indent="0">
              <a:buNone/>
            </a:pPr>
            <a:r>
              <a:rPr lang="en-US" b="1"/>
              <a:t>Activities:</a:t>
            </a:r>
            <a:endParaRPr lang="en-US"/>
          </a:p>
          <a:p>
            <a:r>
              <a:rPr lang="en-US"/>
              <a:t>i. Conducted a one day sensitization forum for 26 males and 4 females(key opinion leaders and elders) on SGBV </a:t>
            </a:r>
          </a:p>
          <a:p>
            <a:r>
              <a:rPr lang="en-US"/>
              <a:t>ii. Facilitated a community dialogue session advocating against SGBV</a:t>
            </a:r>
          </a:p>
          <a:p>
            <a:pPr marL="0" indent="0">
              <a:buNone/>
            </a:pPr>
            <a:r>
              <a:rPr lang="en-US" b="1"/>
              <a:t>Output:</a:t>
            </a:r>
            <a:endParaRPr lang="en-US"/>
          </a:p>
          <a:p>
            <a:r>
              <a:rPr lang="en-US"/>
              <a:t>Establishment of a sub county SGBV Technical Working Group</a:t>
            </a:r>
          </a:p>
          <a:p>
            <a:r>
              <a:rPr lang="en-US"/>
              <a:t>Reached 130 community members at Hadley Village-Balambala subcounty</a:t>
            </a:r>
          </a:p>
          <a:p>
            <a:pPr marL="0" indent="0">
              <a:buNone/>
            </a:pPr>
            <a:endParaRPr lang="en-US"/>
          </a:p>
          <a:p>
            <a:pPr marL="0" indent="0">
              <a:buNone/>
            </a:pPr>
            <a:endParaRPr lang="en-US"/>
          </a:p>
          <a:p>
            <a:pPr marL="0" indent="0">
              <a:buNone/>
            </a:pPr>
            <a:endParaRPr lang="en-US"/>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8425"/>
            <a:ext cx="10515600" cy="1325563"/>
          </a:xfrm>
        </p:spPr>
        <p:txBody>
          <a:bodyPr/>
          <a:lstStyle/>
          <a:p>
            <a:r>
              <a:rPr lang="en-US" b="1" dirty="0"/>
              <a:t>FP Advocacy achievements</a:t>
            </a:r>
          </a:p>
        </p:txBody>
      </p:sp>
      <p:sp>
        <p:nvSpPr>
          <p:cNvPr id="3" name="Content Placeholder 2"/>
          <p:cNvSpPr>
            <a:spLocks noGrp="1"/>
          </p:cNvSpPr>
          <p:nvPr>
            <p:ph idx="1"/>
          </p:nvPr>
        </p:nvSpPr>
        <p:spPr>
          <a:xfrm>
            <a:off x="342900" y="1352550"/>
            <a:ext cx="11010900" cy="5200649"/>
          </a:xfrm>
        </p:spPr>
        <p:txBody>
          <a:bodyPr>
            <a:normAutofit fontScale="97500"/>
          </a:bodyPr>
          <a:lstStyle/>
          <a:p>
            <a:pPr marL="0" indent="0">
              <a:buNone/>
            </a:pPr>
            <a:r>
              <a:rPr lang="en-US" sz="3600" dirty="0"/>
              <a:t>1. Issuance of PPFP circular to all medical superintendents and MoH facility in-charges in Garissa County with the directive on immediate initiation, upscale and acceleration of PPFP in the county and record keeping for evidence based planning</a:t>
            </a:r>
          </a:p>
          <a:p>
            <a:r>
              <a:rPr lang="en-US" sz="3600" dirty="0"/>
              <a:t>Incorporation of PPFP data tools in HRMs and FP data tools is collected in sub counties and county at large.       </a:t>
            </a:r>
          </a:p>
          <a:p>
            <a:r>
              <a:rPr lang="en-US" sz="3600" dirty="0"/>
              <a:t>Up-scaled PPFP services and counselling to women during antenatal visits (423 married women were reached during the 6 months of FP 2020 project implementation).</a:t>
            </a:r>
          </a:p>
          <a:p>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F3AE-9137-C2B1-C1EE-B482157BB3CA}"/>
              </a:ext>
            </a:extLst>
          </p:cNvPr>
          <p:cNvSpPr>
            <a:spLocks noGrp="1"/>
          </p:cNvSpPr>
          <p:nvPr>
            <p:ph type="title"/>
          </p:nvPr>
        </p:nvSpPr>
        <p:spPr/>
        <p:txBody>
          <a:bodyPr/>
          <a:lstStyle/>
          <a:p>
            <a:r>
              <a:rPr lang="en-US" b="1" dirty="0"/>
              <a:t>Achievements </a:t>
            </a:r>
            <a:r>
              <a:rPr lang="en-US" b="1" dirty="0" err="1"/>
              <a:t>cont</a:t>
            </a:r>
            <a:r>
              <a:rPr lang="en-US" b="1" dirty="0"/>
              <a:t>’</a:t>
            </a:r>
            <a:endParaRPr lang="en-US" b="1" dirty="0">
              <a:latin typeface="+mn-lt"/>
            </a:endParaRPr>
          </a:p>
        </p:txBody>
      </p:sp>
      <p:sp>
        <p:nvSpPr>
          <p:cNvPr id="3" name="Content Placeholder 2">
            <a:extLst>
              <a:ext uri="{FF2B5EF4-FFF2-40B4-BE49-F238E27FC236}">
                <a16:creationId xmlns:a16="http://schemas.microsoft.com/office/drawing/2014/main" id="{0E7949B9-0A12-A037-B70A-A09863AD7D75}"/>
              </a:ext>
            </a:extLst>
          </p:cNvPr>
          <p:cNvSpPr>
            <a:spLocks noGrp="1"/>
          </p:cNvSpPr>
          <p:nvPr>
            <p:ph idx="1"/>
          </p:nvPr>
        </p:nvSpPr>
        <p:spPr/>
        <p:txBody>
          <a:bodyPr/>
          <a:lstStyle/>
          <a:p>
            <a:endParaRPr lang="en-US" dirty="0"/>
          </a:p>
          <a:p>
            <a:pPr marL="0" indent="0">
              <a:buNone/>
            </a:pPr>
            <a:r>
              <a:rPr lang="en-US" b="1" dirty="0">
                <a:latin typeface="+mn-lt"/>
              </a:rPr>
              <a:t>2. Joint Communique</a:t>
            </a:r>
            <a:endParaRPr lang="en-US" dirty="0"/>
          </a:p>
          <a:p>
            <a:r>
              <a:rPr lang="en-US" dirty="0"/>
              <a:t>Reduced perception that Somali culture and the Holy Koran does not allow child spacing among married Muslim women.</a:t>
            </a:r>
            <a:endParaRPr lang="en-US" sz="2800" dirty="0"/>
          </a:p>
          <a:p>
            <a:r>
              <a:rPr lang="en-US" sz="2800" dirty="0"/>
              <a:t>Increased good will and commitment by gatekeeper in advocacy for child spacing and SGBV</a:t>
            </a:r>
          </a:p>
          <a:p>
            <a:pPr marL="0" indent="0">
              <a:buNone/>
            </a:pPr>
            <a:r>
              <a:rPr lang="en-US" sz="2800" dirty="0"/>
              <a:t>3. 25% increased male involvement in child spacing</a:t>
            </a:r>
          </a:p>
          <a:p>
            <a:pPr marL="0" indent="0">
              <a:buNone/>
            </a:pPr>
            <a:r>
              <a:rPr lang="en-US" dirty="0"/>
              <a:t> 4. KDH 2022 results that shows MCPR of 11%</a:t>
            </a:r>
            <a:endParaRPr lang="en-US" sz="2800" dirty="0"/>
          </a:p>
          <a:p>
            <a:endParaRPr lang="en-US" dirty="0"/>
          </a:p>
        </p:txBody>
      </p:sp>
    </p:spTree>
    <p:extLst>
      <p:ext uri="{BB962C8B-B14F-4D97-AF65-F5344CB8AC3E}">
        <p14:creationId xmlns:p14="http://schemas.microsoft.com/office/powerpoint/2010/main" val="932459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236C-8135-6DCD-2528-ACB4FCFC91A6}"/>
              </a:ext>
            </a:extLst>
          </p:cNvPr>
          <p:cNvSpPr>
            <a:spLocks noGrp="1"/>
          </p:cNvSpPr>
          <p:nvPr>
            <p:ph type="title"/>
          </p:nvPr>
        </p:nvSpPr>
        <p:spPr>
          <a:xfrm>
            <a:off x="838200" y="365126"/>
            <a:ext cx="10515600" cy="576984"/>
          </a:xfrm>
        </p:spPr>
        <p:txBody>
          <a:bodyPr>
            <a:normAutofit fontScale="90000"/>
          </a:bodyPr>
          <a:lstStyle/>
          <a:p>
            <a:r>
              <a:rPr lang="en-US" sz="4400" b="1" dirty="0">
                <a:latin typeface="Ink Free" panose="03080402000500000000" pitchFamily="66" charset="0"/>
                <a:cs typeface="Ink Free" panose="03080402000500000000" pitchFamily="66" charset="0"/>
              </a:rPr>
              <a:t>Garissa County post partum FP data</a:t>
            </a:r>
            <a:endParaRPr lang="en-US" dirty="0"/>
          </a:p>
        </p:txBody>
      </p:sp>
      <p:sp>
        <p:nvSpPr>
          <p:cNvPr id="3" name="Content Placeholder 2">
            <a:extLst>
              <a:ext uri="{FF2B5EF4-FFF2-40B4-BE49-F238E27FC236}">
                <a16:creationId xmlns:a16="http://schemas.microsoft.com/office/drawing/2014/main" id="{DBDCCEA3-459F-3A84-F9C9-655008035288}"/>
              </a:ext>
            </a:extLst>
          </p:cNvPr>
          <p:cNvSpPr>
            <a:spLocks noGrp="1"/>
          </p:cNvSpPr>
          <p:nvPr>
            <p:ph idx="1"/>
          </p:nvPr>
        </p:nvSpPr>
        <p:spPr>
          <a:xfrm>
            <a:off x="838201" y="1088668"/>
            <a:ext cx="9525000" cy="5769331"/>
          </a:xfrm>
        </p:spPr>
        <p:txBody>
          <a:bodyPr/>
          <a:lstStyle/>
          <a:p>
            <a:pPr marL="0" indent="0">
              <a:buNone/>
            </a:pPr>
            <a:endParaRPr lang="en-US" dirty="0"/>
          </a:p>
        </p:txBody>
      </p:sp>
      <p:graphicFrame>
        <p:nvGraphicFramePr>
          <p:cNvPr id="4" name="Table 3">
            <a:extLst>
              <a:ext uri="{FF2B5EF4-FFF2-40B4-BE49-F238E27FC236}">
                <a16:creationId xmlns:a16="http://schemas.microsoft.com/office/drawing/2014/main" id="{CDF4AB16-60A9-C646-653A-1FDC667A7820}"/>
              </a:ext>
            </a:extLst>
          </p:cNvPr>
          <p:cNvGraphicFramePr>
            <a:graphicFrameLocks noGrp="1"/>
          </p:cNvGraphicFramePr>
          <p:nvPr>
            <p:extLst>
              <p:ext uri="{D42A27DB-BD31-4B8C-83A1-F6EECF244321}">
                <p14:modId xmlns:p14="http://schemas.microsoft.com/office/powerpoint/2010/main" val="956132238"/>
              </p:ext>
            </p:extLst>
          </p:nvPr>
        </p:nvGraphicFramePr>
        <p:xfrm>
          <a:off x="1233055" y="1088669"/>
          <a:ext cx="8963893" cy="5758860"/>
        </p:xfrm>
        <a:graphic>
          <a:graphicData uri="http://schemas.openxmlformats.org/drawingml/2006/table">
            <a:tbl>
              <a:tblPr/>
              <a:tblGrid>
                <a:gridCol w="1229451">
                  <a:extLst>
                    <a:ext uri="{9D8B030D-6E8A-4147-A177-3AD203B41FA5}">
                      <a16:colId xmlns:a16="http://schemas.microsoft.com/office/drawing/2014/main" val="20000"/>
                    </a:ext>
                  </a:extLst>
                </a:gridCol>
                <a:gridCol w="2894077">
                  <a:extLst>
                    <a:ext uri="{9D8B030D-6E8A-4147-A177-3AD203B41FA5}">
                      <a16:colId xmlns:a16="http://schemas.microsoft.com/office/drawing/2014/main" val="20001"/>
                    </a:ext>
                  </a:extLst>
                </a:gridCol>
                <a:gridCol w="2894077">
                  <a:extLst>
                    <a:ext uri="{9D8B030D-6E8A-4147-A177-3AD203B41FA5}">
                      <a16:colId xmlns:a16="http://schemas.microsoft.com/office/drawing/2014/main" val="20002"/>
                    </a:ext>
                  </a:extLst>
                </a:gridCol>
                <a:gridCol w="1946288">
                  <a:extLst>
                    <a:ext uri="{9D8B030D-6E8A-4147-A177-3AD203B41FA5}">
                      <a16:colId xmlns:a16="http://schemas.microsoft.com/office/drawing/2014/main" val="20003"/>
                    </a:ext>
                  </a:extLst>
                </a:gridCol>
              </a:tblGrid>
              <a:tr h="379490">
                <a:tc>
                  <a:txBody>
                    <a:bodyPr/>
                    <a:lstStyle/>
                    <a:p>
                      <a:pPr algn="ctr" fontAlgn="ctr"/>
                      <a:r>
                        <a:rPr lang="en-US" sz="1400" b="1" i="0" u="none" strike="noStrike" dirty="0">
                          <a:solidFill>
                            <a:srgbClr val="000000"/>
                          </a:solidFill>
                          <a:effectLst/>
                          <a:latin typeface="Ink Free" panose="03080402000500000000" pitchFamily="66" charset="0"/>
                          <a:cs typeface="Ink Free" panose="03080402000500000000" pitchFamily="66" charset="0"/>
                        </a:rPr>
                        <a:t>Period</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rgbClr val="C7D5E9"/>
                    </a:solidFill>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Sub Counties</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rgbClr val="C7D5E9"/>
                    </a:solidFill>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Post parturm FP 4weeks to 6weeks</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rgbClr val="DAE6F8"/>
                    </a:solidFill>
                  </a:tcPr>
                </a:tc>
                <a:tc>
                  <a:txBody>
                    <a:bodyPr/>
                    <a:lstStyle/>
                    <a:p>
                      <a:pPr algn="ctr" fontAlgn="ctr"/>
                      <a:r>
                        <a:rPr lang="en-US" sz="1400" b="1" i="0" u="none" strike="noStrike" dirty="0">
                          <a:solidFill>
                            <a:srgbClr val="000000"/>
                          </a:solidFill>
                          <a:effectLst/>
                          <a:latin typeface="Ink Free" panose="03080402000500000000" pitchFamily="66" charset="0"/>
                          <a:cs typeface="Ink Free" panose="03080402000500000000" pitchFamily="66" charset="0"/>
                        </a:rPr>
                        <a:t>Post </a:t>
                      </a:r>
                      <a:r>
                        <a:rPr lang="en-US" sz="1400" b="1" i="0" u="none" strike="noStrike" dirty="0" err="1">
                          <a:solidFill>
                            <a:srgbClr val="000000"/>
                          </a:solidFill>
                          <a:effectLst/>
                          <a:latin typeface="Ink Free" panose="03080402000500000000" pitchFamily="66" charset="0"/>
                          <a:cs typeface="Ink Free" panose="03080402000500000000" pitchFamily="66" charset="0"/>
                        </a:rPr>
                        <a:t>parturm</a:t>
                      </a:r>
                      <a:r>
                        <a:rPr lang="en-US" sz="1400" b="1" i="0" u="none" strike="noStrike" dirty="0">
                          <a:solidFill>
                            <a:srgbClr val="000000"/>
                          </a:solidFill>
                          <a:effectLst/>
                          <a:latin typeface="Ink Free" panose="03080402000500000000" pitchFamily="66" charset="0"/>
                          <a:cs typeface="Ink Free" panose="03080402000500000000" pitchFamily="66" charset="0"/>
                        </a:rPr>
                        <a:t> FP within 48 Hours</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rgbClr val="DAE6F8"/>
                    </a:solidFill>
                  </a:tcPr>
                </a:tc>
                <a:extLst>
                  <a:ext uri="{0D108BD9-81ED-4DB2-BD59-A6C34878D82A}">
                    <a16:rowId xmlns:a16="http://schemas.microsoft.com/office/drawing/2014/main" val="10000"/>
                  </a:ext>
                </a:extLst>
              </a:tr>
              <a:tr h="193434">
                <a:tc rowSpan="8">
                  <a:txBody>
                    <a:bodyPr/>
                    <a:lstStyle/>
                    <a:p>
                      <a:pPr algn="ctr" fontAlgn="ctr"/>
                      <a:r>
                        <a:rPr lang="en-US" sz="1400" b="1">
                          <a:latin typeface="Ink Free" panose="03080402000500000000" pitchFamily="66" charset="0"/>
                          <a:cs typeface="Ink Free" panose="03080402000500000000" pitchFamily="66" charset="0"/>
                        </a:rPr>
                        <a:t>2020</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ctr" fontAlgn="ctr"/>
                      <a:r>
                        <a:rPr lang="en-US" sz="1400" b="1">
                          <a:latin typeface="Ink Free" panose="03080402000500000000" pitchFamily="66" charset="0"/>
                          <a:cs typeface="Ink Free" panose="03080402000500000000" pitchFamily="66" charset="0"/>
                        </a:rPr>
                        <a:t>Balambala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10</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dirty="0">
                          <a:latin typeface="Ink Free" panose="03080402000500000000" pitchFamily="66" charset="0"/>
                          <a:cs typeface="Ink Free" panose="03080402000500000000" pitchFamily="66" charset="0"/>
                        </a:rPr>
                        <a:t>11</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193434">
                <a:tc vMerge="1">
                  <a:txBody>
                    <a:bodyPr/>
                    <a:lstStyle/>
                    <a:p>
                      <a:endParaRPr lang="en-US"/>
                    </a:p>
                  </a:txBody>
                  <a:tcPr/>
                </a:tc>
                <a:tc>
                  <a:txBody>
                    <a:bodyPr/>
                    <a:lstStyle/>
                    <a:p>
                      <a:pPr algn="ctr" fontAlgn="ctr"/>
                      <a:r>
                        <a:rPr lang="en-US" sz="1400" b="1">
                          <a:latin typeface="Ink Free" panose="03080402000500000000" pitchFamily="66" charset="0"/>
                          <a:cs typeface="Ink Free" panose="03080402000500000000" pitchFamily="66" charset="0"/>
                        </a:rPr>
                        <a:t>Dadaab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23</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dirty="0">
                          <a:latin typeface="Ink Free" panose="03080402000500000000" pitchFamily="66" charset="0"/>
                          <a:cs typeface="Ink Free" panose="03080402000500000000" pitchFamily="66" charset="0"/>
                        </a:rPr>
                        <a:t>28</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r h="193434">
                <a:tc vMerge="1">
                  <a:txBody>
                    <a:bodyPr/>
                    <a:lstStyle/>
                    <a:p>
                      <a:endParaRPr lang="en-US"/>
                    </a:p>
                  </a:txBody>
                  <a:tcPr/>
                </a:tc>
                <a:tc>
                  <a:txBody>
                    <a:bodyPr/>
                    <a:lstStyle/>
                    <a:p>
                      <a:pPr algn="ctr" fontAlgn="ctr"/>
                      <a:r>
                        <a:rPr lang="en-US" sz="1400" b="1">
                          <a:latin typeface="Ink Free" panose="03080402000500000000" pitchFamily="66" charset="0"/>
                          <a:cs typeface="Ink Free" panose="03080402000500000000" pitchFamily="66" charset="0"/>
                        </a:rPr>
                        <a:t>Fafi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30</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35</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r h="193434">
                <a:tc vMerge="1">
                  <a:txBody>
                    <a:bodyPr/>
                    <a:lstStyle/>
                    <a:p>
                      <a:endParaRPr lang="en-US"/>
                    </a:p>
                  </a:txBody>
                  <a:tcPr/>
                </a:tc>
                <a:tc>
                  <a:txBody>
                    <a:bodyPr/>
                    <a:lstStyle/>
                    <a:p>
                      <a:pPr algn="ctr" fontAlgn="ctr"/>
                      <a:r>
                        <a:rPr lang="en-US" sz="1400" b="1">
                          <a:latin typeface="Ink Free" panose="03080402000500000000" pitchFamily="66" charset="0"/>
                          <a:cs typeface="Ink Free" panose="03080402000500000000" pitchFamily="66" charset="0"/>
                        </a:rPr>
                        <a:t>Garissa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111</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dirty="0">
                          <a:latin typeface="Ink Free" panose="03080402000500000000" pitchFamily="66" charset="0"/>
                          <a:cs typeface="Ink Free" panose="03080402000500000000" pitchFamily="66" charset="0"/>
                        </a:rPr>
                        <a:t>124</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
                  </a:ext>
                </a:extLst>
              </a:tr>
              <a:tr h="193434">
                <a:tc vMerge="1">
                  <a:txBody>
                    <a:bodyPr/>
                    <a:lstStyle/>
                    <a:p>
                      <a:endParaRPr lang="en-US"/>
                    </a:p>
                  </a:txBody>
                  <a:tcPr/>
                </a:tc>
                <a:tc>
                  <a:txBody>
                    <a:bodyPr/>
                    <a:lstStyle/>
                    <a:p>
                      <a:pPr algn="ctr" fontAlgn="ctr"/>
                      <a:r>
                        <a:rPr lang="en-US" sz="1400" b="1">
                          <a:latin typeface="Ink Free" panose="03080402000500000000" pitchFamily="66" charset="0"/>
                          <a:cs typeface="Ink Free" panose="03080402000500000000" pitchFamily="66" charset="0"/>
                        </a:rPr>
                        <a:t>Hulugho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12</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15</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5"/>
                  </a:ext>
                </a:extLst>
              </a:tr>
              <a:tr h="193434">
                <a:tc vMerge="1">
                  <a:txBody>
                    <a:bodyPr/>
                    <a:lstStyle/>
                    <a:p>
                      <a:endParaRPr lang="en-US"/>
                    </a:p>
                  </a:txBody>
                  <a:tcPr/>
                </a:tc>
                <a:tc>
                  <a:txBody>
                    <a:bodyPr/>
                    <a:lstStyle/>
                    <a:p>
                      <a:pPr algn="ctr" fontAlgn="ctr"/>
                      <a:r>
                        <a:rPr lang="en-US" sz="1400" b="1">
                          <a:latin typeface="Ink Free" panose="03080402000500000000" pitchFamily="66" charset="0"/>
                          <a:cs typeface="Ink Free" panose="03080402000500000000" pitchFamily="66" charset="0"/>
                        </a:rPr>
                        <a:t>Ijara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dirty="0">
                          <a:latin typeface="Ink Free" panose="03080402000500000000" pitchFamily="66" charset="0"/>
                          <a:cs typeface="Ink Free" panose="03080402000500000000" pitchFamily="66" charset="0"/>
                        </a:rPr>
                        <a:t>22</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29</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6"/>
                  </a:ext>
                </a:extLst>
              </a:tr>
              <a:tr h="193434">
                <a:tc vMerge="1">
                  <a:txBody>
                    <a:bodyPr/>
                    <a:lstStyle/>
                    <a:p>
                      <a:endParaRPr lang="en-US"/>
                    </a:p>
                  </a:txBody>
                  <a:tcPr/>
                </a:tc>
                <a:tc>
                  <a:txBody>
                    <a:bodyPr/>
                    <a:lstStyle/>
                    <a:p>
                      <a:pPr algn="ctr" fontAlgn="ctr"/>
                      <a:r>
                        <a:rPr lang="en-US" sz="1400" b="1">
                          <a:latin typeface="Ink Free" panose="03080402000500000000" pitchFamily="66" charset="0"/>
                          <a:cs typeface="Ink Free" panose="03080402000500000000" pitchFamily="66" charset="0"/>
                        </a:rPr>
                        <a:t>Lagdera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dirty="0">
                          <a:latin typeface="Ink Free" panose="03080402000500000000" pitchFamily="66" charset="0"/>
                          <a:cs typeface="Ink Free" panose="03080402000500000000" pitchFamily="66" charset="0"/>
                        </a:rPr>
                        <a:t>38</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latin typeface="Ink Free" panose="03080402000500000000" pitchFamily="66" charset="0"/>
                          <a:cs typeface="Ink Free" panose="03080402000500000000" pitchFamily="66" charset="0"/>
                        </a:rPr>
                        <a:t>44</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7"/>
                  </a:ext>
                </a:extLst>
              </a:tr>
              <a:tr h="193434">
                <a:tc vMerge="1">
                  <a:txBody>
                    <a:bodyPr/>
                    <a:lstStyle/>
                    <a:p>
                      <a:endParaRPr lang="en-US"/>
                    </a:p>
                  </a:txBody>
                  <a:tcPr/>
                </a:tc>
                <a:tc>
                  <a:txBody>
                    <a:bodyPr/>
                    <a:lstStyle/>
                    <a:p>
                      <a:pPr algn="ctr" fontAlgn="ctr"/>
                      <a:r>
                        <a:rPr lang="en-US" sz="1400" b="1">
                          <a:solidFill>
                            <a:srgbClr val="FF0000"/>
                          </a:solidFill>
                          <a:latin typeface="Ink Free" panose="03080402000500000000" pitchFamily="66" charset="0"/>
                          <a:cs typeface="Ink Free" panose="03080402000500000000" pitchFamily="66" charset="0"/>
                        </a:rPr>
                        <a:t>Garissa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solidFill>
                            <a:srgbClr val="FF0000"/>
                          </a:solidFill>
                          <a:latin typeface="Ink Free" panose="03080402000500000000" pitchFamily="66" charset="0"/>
                          <a:cs typeface="Ink Free" panose="03080402000500000000" pitchFamily="66" charset="0"/>
                        </a:rPr>
                        <a:t>246</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tc>
                  <a:txBody>
                    <a:bodyPr/>
                    <a:lstStyle/>
                    <a:p>
                      <a:pPr algn="r" fontAlgn="ctr"/>
                      <a:r>
                        <a:rPr lang="en-US" sz="1400" b="1">
                          <a:solidFill>
                            <a:srgbClr val="FF0000"/>
                          </a:solidFill>
                          <a:latin typeface="Ink Free" panose="03080402000500000000" pitchFamily="66" charset="0"/>
                          <a:cs typeface="Ink Free" panose="03080402000500000000" pitchFamily="66" charset="0"/>
                        </a:rPr>
                        <a:t>286</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8"/>
                  </a:ext>
                </a:extLst>
              </a:tr>
              <a:tr h="193434">
                <a:tc rowSpan="8">
                  <a:txBody>
                    <a:bodyPr/>
                    <a:lstStyle/>
                    <a:p>
                      <a:pPr algn="ctr" fontAlgn="ctr"/>
                      <a:r>
                        <a:rPr lang="en-US" sz="1400" b="1" i="0" u="none" strike="noStrike" dirty="0">
                          <a:solidFill>
                            <a:srgbClr val="000000"/>
                          </a:solidFill>
                          <a:effectLst/>
                          <a:latin typeface="Ink Free" panose="03080402000500000000" pitchFamily="66" charset="0"/>
                          <a:cs typeface="Ink Free" panose="03080402000500000000" pitchFamily="66" charset="0"/>
                        </a:rPr>
                        <a:t>2021</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Balambala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dirty="0">
                          <a:solidFill>
                            <a:srgbClr val="000000"/>
                          </a:solidFill>
                          <a:effectLst/>
                          <a:latin typeface="Ink Free" panose="03080402000500000000" pitchFamily="66" charset="0"/>
                          <a:cs typeface="Ink Free" panose="03080402000500000000" pitchFamily="66" charset="0"/>
                        </a:rPr>
                        <a:t>17</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54</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09"/>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Dadaab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80</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27</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10"/>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Fafi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85</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14</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11"/>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Garissa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201</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84</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12"/>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Hulugho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11</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13</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13"/>
                  </a:ext>
                </a:extLst>
              </a:tr>
              <a:tr h="193434">
                <a:tc vMerge="1">
                  <a:txBody>
                    <a:bodyPr/>
                    <a:lstStyle/>
                    <a:p>
                      <a:endParaRPr lang="en-US"/>
                    </a:p>
                  </a:txBody>
                  <a:tcPr/>
                </a:tc>
                <a:tc>
                  <a:txBody>
                    <a:bodyPr/>
                    <a:lstStyle/>
                    <a:p>
                      <a:pPr algn="ctr" fontAlgn="ctr"/>
                      <a:r>
                        <a:rPr lang="en-US" sz="1400" b="1" i="0" u="none" strike="noStrike" dirty="0" err="1">
                          <a:solidFill>
                            <a:srgbClr val="000000"/>
                          </a:solidFill>
                          <a:effectLst/>
                          <a:latin typeface="Ink Free" panose="03080402000500000000" pitchFamily="66" charset="0"/>
                          <a:cs typeface="Ink Free" panose="03080402000500000000" pitchFamily="66" charset="0"/>
                        </a:rPr>
                        <a:t>Ijara</a:t>
                      </a:r>
                      <a:r>
                        <a:rPr lang="en-US" sz="1400" b="1" i="0" u="none" strike="noStrike" dirty="0">
                          <a:solidFill>
                            <a:srgbClr val="000000"/>
                          </a:solidFill>
                          <a:effectLst/>
                          <a:latin typeface="Ink Free" panose="03080402000500000000" pitchFamily="66" charset="0"/>
                          <a:cs typeface="Ink Free" panose="03080402000500000000" pitchFamily="66" charset="0"/>
                        </a:rPr>
                        <a:t>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77</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392</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14"/>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Lagdera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36</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24</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15"/>
                  </a:ext>
                </a:extLst>
              </a:tr>
              <a:tr h="193434">
                <a:tc vMerge="1">
                  <a:txBody>
                    <a:bodyPr/>
                    <a:lstStyle/>
                    <a:p>
                      <a:endParaRPr lang="en-US"/>
                    </a:p>
                  </a:txBody>
                  <a:tcPr/>
                </a:tc>
                <a:tc>
                  <a:txBody>
                    <a:bodyPr/>
                    <a:lstStyle/>
                    <a:p>
                      <a:pPr algn="ctr" fontAlgn="ctr"/>
                      <a:r>
                        <a:rPr lang="en-US" sz="1400" b="1" i="0" u="none" strike="noStrike">
                          <a:solidFill>
                            <a:srgbClr val="FF0000"/>
                          </a:solidFill>
                          <a:effectLst/>
                          <a:latin typeface="Ink Free" panose="03080402000500000000" pitchFamily="66" charset="0"/>
                          <a:cs typeface="Ink Free" panose="03080402000500000000" pitchFamily="66" charset="0"/>
                        </a:rPr>
                        <a:t>Garissa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FF0000"/>
                          </a:solidFill>
                          <a:effectLst/>
                          <a:latin typeface="Ink Free" panose="03080402000500000000" pitchFamily="66" charset="0"/>
                          <a:cs typeface="Ink Free" panose="03080402000500000000" pitchFamily="66" charset="0"/>
                        </a:rPr>
                        <a:t>496</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tc>
                  <a:txBody>
                    <a:bodyPr/>
                    <a:lstStyle/>
                    <a:p>
                      <a:pPr algn="r" fontAlgn="ctr"/>
                      <a:r>
                        <a:rPr lang="en-US" sz="1400" b="1" i="0" u="none" strike="noStrike">
                          <a:solidFill>
                            <a:srgbClr val="FF0000"/>
                          </a:solidFill>
                          <a:effectLst/>
                          <a:latin typeface="Ink Free" panose="03080402000500000000" pitchFamily="66" charset="0"/>
                          <a:cs typeface="Ink Free" panose="03080402000500000000" pitchFamily="66" charset="0"/>
                        </a:rPr>
                        <a:t>595</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4"/>
                    </a:solidFill>
                  </a:tcPr>
                </a:tc>
                <a:extLst>
                  <a:ext uri="{0D108BD9-81ED-4DB2-BD59-A6C34878D82A}">
                    <a16:rowId xmlns:a16="http://schemas.microsoft.com/office/drawing/2014/main" val="10016"/>
                  </a:ext>
                </a:extLst>
              </a:tr>
              <a:tr h="193434">
                <a:tc rowSpan="8">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2022</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Balambala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8</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17</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17"/>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Dadaab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48</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53</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18"/>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Fafi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62</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19</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19"/>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Garissa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88</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76</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20"/>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Hulugho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6</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8</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21"/>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Ijara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61</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250</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22"/>
                  </a:ext>
                </a:extLst>
              </a:tr>
              <a:tr h="193434">
                <a:tc vMerge="1">
                  <a:txBody>
                    <a:bodyPr/>
                    <a:lstStyle/>
                    <a:p>
                      <a:endParaRPr lang="en-US"/>
                    </a:p>
                  </a:txBody>
                  <a:tcPr/>
                </a:tc>
                <a:tc>
                  <a:txBody>
                    <a:bodyPr/>
                    <a:lstStyle/>
                    <a:p>
                      <a:pPr algn="ctr" fontAlgn="ctr"/>
                      <a:r>
                        <a:rPr lang="en-US" sz="1400" b="1" i="0" u="none" strike="noStrike">
                          <a:solidFill>
                            <a:srgbClr val="000000"/>
                          </a:solidFill>
                          <a:effectLst/>
                          <a:latin typeface="Ink Free" panose="03080402000500000000" pitchFamily="66" charset="0"/>
                          <a:cs typeface="Ink Free" panose="03080402000500000000" pitchFamily="66" charset="0"/>
                        </a:rPr>
                        <a:t>Lagdera Sub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26</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a:solidFill>
                            <a:srgbClr val="000000"/>
                          </a:solidFill>
                          <a:effectLst/>
                          <a:latin typeface="Ink Free" panose="03080402000500000000" pitchFamily="66" charset="0"/>
                          <a:cs typeface="Ink Free" panose="03080402000500000000" pitchFamily="66" charset="0"/>
                        </a:rPr>
                        <a:t>24</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23"/>
                  </a:ext>
                </a:extLst>
              </a:tr>
              <a:tr h="193434">
                <a:tc vMerge="1">
                  <a:txBody>
                    <a:bodyPr/>
                    <a:lstStyle/>
                    <a:p>
                      <a:endParaRPr lang="en-US"/>
                    </a:p>
                  </a:txBody>
                  <a:tcPr/>
                </a:tc>
                <a:tc>
                  <a:txBody>
                    <a:bodyPr/>
                    <a:lstStyle/>
                    <a:p>
                      <a:pPr algn="ctr" fontAlgn="ctr"/>
                      <a:r>
                        <a:rPr lang="en-US" sz="1400" b="1" i="0" u="none" strike="noStrike">
                          <a:solidFill>
                            <a:srgbClr val="FF0000"/>
                          </a:solidFill>
                          <a:effectLst/>
                          <a:latin typeface="Ink Free" panose="03080402000500000000" pitchFamily="66" charset="0"/>
                          <a:cs typeface="Ink Free" panose="03080402000500000000" pitchFamily="66" charset="0"/>
                        </a:rPr>
                        <a:t>Garissa County</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dirty="0">
                          <a:solidFill>
                            <a:srgbClr val="FF0000"/>
                          </a:solidFill>
                          <a:effectLst/>
                          <a:latin typeface="Ink Free" panose="03080402000500000000" pitchFamily="66" charset="0"/>
                          <a:cs typeface="Ink Free" panose="03080402000500000000" pitchFamily="66" charset="0"/>
                        </a:rPr>
                        <a:t>299</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tc>
                  <a:txBody>
                    <a:bodyPr/>
                    <a:lstStyle/>
                    <a:p>
                      <a:pPr algn="r" fontAlgn="ctr"/>
                      <a:r>
                        <a:rPr lang="en-US" sz="1400" b="1" i="0" u="none" strike="noStrike" dirty="0">
                          <a:solidFill>
                            <a:srgbClr val="FF0000"/>
                          </a:solidFill>
                          <a:effectLst/>
                          <a:latin typeface="Ink Free" panose="03080402000500000000" pitchFamily="66" charset="0"/>
                          <a:cs typeface="Ink Free" panose="03080402000500000000" pitchFamily="66" charset="0"/>
                        </a:rPr>
                        <a:t>447</a:t>
                      </a:r>
                    </a:p>
                  </a:txBody>
                  <a:tcPr marL="8460" marR="8460" marT="8460" marB="0" anchor="ctr">
                    <a:lnL w="12700" cap="flat" cmpd="sng" algn="ctr">
                      <a:solidFill>
                        <a:srgbClr val="B2B2B2"/>
                      </a:solidFill>
                      <a:prstDash val="solid"/>
                      <a:round/>
                      <a:headEnd type="none" w="med" len="med"/>
                      <a:tailEnd type="none" w="med" len="med"/>
                    </a:lnL>
                    <a:lnR w="12700" cap="flat" cmpd="sng" algn="ctr">
                      <a:solidFill>
                        <a:srgbClr val="B2B2B2"/>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24"/>
                  </a:ext>
                </a:extLst>
              </a:tr>
            </a:tbl>
          </a:graphicData>
        </a:graphic>
      </p:graphicFrame>
    </p:spTree>
    <p:extLst>
      <p:ext uri="{BB962C8B-B14F-4D97-AF65-F5344CB8AC3E}">
        <p14:creationId xmlns:p14="http://schemas.microsoft.com/office/powerpoint/2010/main" val="528234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2C282-5EA2-A484-3DC8-3FCE1158BCDC}"/>
              </a:ext>
            </a:extLst>
          </p:cNvPr>
          <p:cNvSpPr>
            <a:spLocks noGrp="1"/>
          </p:cNvSpPr>
          <p:nvPr>
            <p:ph type="title"/>
          </p:nvPr>
        </p:nvSpPr>
        <p:spPr/>
        <p:txBody>
          <a:bodyPr>
            <a:normAutofit/>
          </a:bodyPr>
          <a:lstStyle/>
          <a:p>
            <a:pPr algn="ctr"/>
            <a:r>
              <a:rPr lang="en-US" sz="5400" b="1" dirty="0">
                <a:gradFill>
                  <a:gsLst>
                    <a:gs pos="0">
                      <a:srgbClr val="012D86"/>
                    </a:gs>
                    <a:gs pos="100000">
                      <a:srgbClr val="0E2557"/>
                    </a:gs>
                  </a:gsLst>
                  <a:lin scaled="0"/>
                </a:gradFill>
                <a:latin typeface="Ink Free" panose="03080402000500000000" pitchFamily="66" charset="0"/>
                <a:cs typeface="Ink Free" panose="03080402000500000000" pitchFamily="66" charset="0"/>
              </a:rPr>
              <a:t>Achievements...</a:t>
            </a:r>
            <a:endParaRPr lang="en-US" sz="5400" b="1" dirty="0"/>
          </a:p>
        </p:txBody>
      </p:sp>
      <p:pic>
        <p:nvPicPr>
          <p:cNvPr id="7" name="Content Placeholder 12">
            <a:extLst>
              <a:ext uri="{FF2B5EF4-FFF2-40B4-BE49-F238E27FC236}">
                <a16:creationId xmlns:a16="http://schemas.microsoft.com/office/drawing/2014/main" id="{78CF9F2F-4670-95A7-00ED-1FFA645D5EAA}"/>
              </a:ext>
            </a:extLst>
          </p:cNvPr>
          <p:cNvPicPr>
            <a:picLocks noGrp="1" noChangeAspect="1"/>
          </p:cNvPicPr>
          <p:nvPr>
            <p:ph idx="1"/>
          </p:nvPr>
        </p:nvPicPr>
        <p:blipFill>
          <a:blip r:embed="rId2"/>
          <a:stretch>
            <a:fillRect/>
          </a:stretch>
        </p:blipFill>
        <p:spPr>
          <a:xfrm>
            <a:off x="1246908" y="2089150"/>
            <a:ext cx="9615055" cy="4685492"/>
          </a:xfrm>
          <a:prstGeom prst="rect">
            <a:avLst/>
          </a:prstGeom>
          <a:noFill/>
          <a:ln>
            <a:noFill/>
          </a:ln>
        </p:spPr>
      </p:pic>
      <p:sp>
        <p:nvSpPr>
          <p:cNvPr id="3" name="Text Placeholder 2">
            <a:extLst>
              <a:ext uri="{FF2B5EF4-FFF2-40B4-BE49-F238E27FC236}">
                <a16:creationId xmlns:a16="http://schemas.microsoft.com/office/drawing/2014/main" id="{87E06933-E508-3253-0AD5-03FB443243D3}"/>
              </a:ext>
            </a:extLst>
          </p:cNvPr>
          <p:cNvSpPr>
            <a:spLocks noGrp="1"/>
          </p:cNvSpPr>
          <p:nvPr>
            <p:ph type="body" idx="4294967295"/>
          </p:nvPr>
        </p:nvSpPr>
        <p:spPr>
          <a:xfrm>
            <a:off x="-1" y="1268413"/>
            <a:ext cx="9157855" cy="820737"/>
          </a:xfrm>
        </p:spPr>
        <p:txBody>
          <a:bodyPr>
            <a:normAutofit fontScale="25000" lnSpcReduction="20000"/>
          </a:bodyPr>
          <a:lstStyle/>
          <a:p>
            <a:endParaRPr lang="en-US" dirty="0"/>
          </a:p>
          <a:p>
            <a:pPr algn="ctr"/>
            <a:endParaRPr lang="en-US" dirty="0"/>
          </a:p>
          <a:p>
            <a:pPr marL="0" indent="0" algn="ctr">
              <a:buNone/>
            </a:pPr>
            <a:r>
              <a:rPr lang="en-US" sz="14400" dirty="0"/>
              <a:t>                      KDHS 2022</a:t>
            </a:r>
          </a:p>
          <a:p>
            <a:endParaRPr lang="en-US" dirty="0"/>
          </a:p>
          <a:p>
            <a:endParaRPr lang="en-US" dirty="0"/>
          </a:p>
        </p:txBody>
      </p:sp>
    </p:spTree>
    <p:extLst>
      <p:ext uri="{BB962C8B-B14F-4D97-AF65-F5344CB8AC3E}">
        <p14:creationId xmlns:p14="http://schemas.microsoft.com/office/powerpoint/2010/main" val="1802788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chemeClr val="accent5">
                    <a:lumMod val="75000"/>
                  </a:schemeClr>
                </a:solidFill>
              </a:rPr>
              <a:t>Challenges faced during FP advocacy...</a:t>
            </a:r>
          </a:p>
        </p:txBody>
      </p:sp>
      <p:sp>
        <p:nvSpPr>
          <p:cNvPr id="3" name="Content Placeholder 2"/>
          <p:cNvSpPr>
            <a:spLocks noGrp="1"/>
          </p:cNvSpPr>
          <p:nvPr>
            <p:ph idx="1"/>
          </p:nvPr>
        </p:nvSpPr>
        <p:spPr/>
        <p:txBody>
          <a:bodyPr>
            <a:normAutofit fontScale="87500" lnSpcReduction="10000"/>
          </a:bodyPr>
          <a:lstStyle/>
          <a:p>
            <a:pPr>
              <a:buFont typeface="Arial" panose="020B0604020202020204" pitchFamily="34" charset="0"/>
              <a:buChar char="•"/>
            </a:pPr>
            <a:r>
              <a:rPr lang="en-US" dirty="0"/>
              <a:t>Strong cultural and religious beliefs (myths and misconceptions) that are against child spacing especially for young married people</a:t>
            </a:r>
          </a:p>
          <a:p>
            <a:r>
              <a:rPr lang="en-US" dirty="0">
                <a:sym typeface="+mn-ea"/>
              </a:rPr>
              <a:t>Spousal/partner opposition to use of FP methods</a:t>
            </a:r>
            <a:endParaRPr lang="en-US" dirty="0"/>
          </a:p>
          <a:p>
            <a:pPr>
              <a:buFont typeface="Arial" panose="020B0604020202020204" pitchFamily="34" charset="0"/>
              <a:buChar char="•"/>
            </a:pPr>
            <a:r>
              <a:rPr lang="en-US" dirty="0"/>
              <a:t>Early child marriage affecting girls - married off at an early age – without their consent </a:t>
            </a:r>
          </a:p>
          <a:p>
            <a:r>
              <a:rPr lang="en-US" dirty="0"/>
              <a:t>Poor community structures in responding to planning for a family</a:t>
            </a:r>
          </a:p>
          <a:p>
            <a:r>
              <a:rPr lang="en-US" dirty="0"/>
              <a:t>Erratic supply of FP commodities</a:t>
            </a:r>
          </a:p>
          <a:p>
            <a:r>
              <a:rPr lang="en-US" dirty="0"/>
              <a:t>Lack of and poor supply chains of FP commodities</a:t>
            </a:r>
          </a:p>
          <a:p>
            <a:r>
              <a:rPr lang="en-US" dirty="0"/>
              <a:t>Inadequate knowledge on FP methods</a:t>
            </a:r>
          </a:p>
          <a:p>
            <a:pPr marL="0" indent="0">
              <a:buNone/>
            </a:pPr>
            <a:r>
              <a:rPr lang="en-US"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9788" y="457200"/>
            <a:ext cx="3932237" cy="1094509"/>
          </a:xfrm>
        </p:spPr>
        <p:txBody>
          <a:bodyPr/>
          <a:lstStyle/>
          <a:p>
            <a:r>
              <a:rPr lang="en-US" b="1" i="1" dirty="0">
                <a:solidFill>
                  <a:schemeClr val="accent5">
                    <a:lumMod val="75000"/>
                  </a:schemeClr>
                </a:solidFill>
              </a:rPr>
              <a:t>Challenges faced during FP advocacy...</a:t>
            </a:r>
            <a:r>
              <a:rPr lang="en-US" b="1" i="1" dirty="0">
                <a:solidFill>
                  <a:schemeClr val="accent5">
                    <a:lumMod val="75000"/>
                  </a:schemeClr>
                </a:solidFill>
                <a:sym typeface="+mn-ea"/>
              </a:rPr>
              <a:t>...</a:t>
            </a:r>
            <a:endParaRPr lang="en-US" dirty="0"/>
          </a:p>
        </p:txBody>
      </p:sp>
      <p:sp>
        <p:nvSpPr>
          <p:cNvPr id="6" name="Text Placeholder 5"/>
          <p:cNvSpPr>
            <a:spLocks noGrp="1"/>
          </p:cNvSpPr>
          <p:nvPr>
            <p:ph type="body" sz="half" idx="2"/>
          </p:nvPr>
        </p:nvSpPr>
        <p:spPr>
          <a:xfrm>
            <a:off x="734291" y="1648691"/>
            <a:ext cx="5101359" cy="4530436"/>
          </a:xfrm>
        </p:spPr>
        <p:txBody>
          <a:bodyPr>
            <a:normAutofit fontScale="77500" lnSpcReduction="20000"/>
          </a:bodyPr>
          <a:lstStyle/>
          <a:p>
            <a:r>
              <a:rPr lang="en-US" sz="3400" dirty="0">
                <a:sym typeface="+mn-ea"/>
              </a:rPr>
              <a:t>Poor community structures in responding to SGBV.</a:t>
            </a:r>
            <a:endParaRPr lang="en-US" sz="3400" dirty="0"/>
          </a:p>
          <a:p>
            <a:r>
              <a:rPr lang="en-US" sz="3400" dirty="0">
                <a:sym typeface="+mn-ea"/>
              </a:rPr>
              <a:t>Community members not supporting law enforcement officers in responding to SGBV</a:t>
            </a:r>
            <a:endParaRPr lang="en-US" sz="3400" dirty="0"/>
          </a:p>
          <a:p>
            <a:r>
              <a:rPr lang="en-US" sz="3400" b="1" dirty="0">
                <a:sym typeface="+mn-ea"/>
              </a:rPr>
              <a:t>“</a:t>
            </a:r>
            <a:r>
              <a:rPr lang="en-US" sz="3400" b="1" dirty="0" err="1">
                <a:sym typeface="+mn-ea"/>
              </a:rPr>
              <a:t>Maslaha</a:t>
            </a:r>
            <a:r>
              <a:rPr lang="en-US" sz="3400" b="1" dirty="0">
                <a:sym typeface="+mn-ea"/>
              </a:rPr>
              <a:t>”</a:t>
            </a:r>
            <a:r>
              <a:rPr lang="en-US" sz="3400" dirty="0">
                <a:sym typeface="+mn-ea"/>
              </a:rPr>
              <a:t> is a major obstacle in seeking justice for survivors on SGBV</a:t>
            </a:r>
            <a:endParaRPr lang="en-US" sz="3400" dirty="0"/>
          </a:p>
          <a:p>
            <a:pPr marL="0" indent="0">
              <a:buNone/>
            </a:pPr>
            <a:r>
              <a:rPr lang="en-US" sz="3400" dirty="0">
                <a:sym typeface="+mn-ea"/>
              </a:rPr>
              <a:t>In 2021, 81 out of 84 SGBV cases in </a:t>
            </a:r>
            <a:r>
              <a:rPr lang="en-US" sz="3400" dirty="0" err="1">
                <a:sym typeface="+mn-ea"/>
              </a:rPr>
              <a:t>Balambala</a:t>
            </a:r>
            <a:r>
              <a:rPr lang="en-US" sz="3400" dirty="0">
                <a:sym typeface="+mn-ea"/>
              </a:rPr>
              <a:t> subcounty were resolved through </a:t>
            </a:r>
            <a:r>
              <a:rPr lang="en-US" sz="3400" dirty="0" err="1">
                <a:sym typeface="+mn-ea"/>
              </a:rPr>
              <a:t>Maslaha</a:t>
            </a:r>
            <a:endParaRPr lang="en-US" sz="3400" dirty="0"/>
          </a:p>
          <a:p>
            <a:r>
              <a:rPr lang="en-US" sz="3400" dirty="0">
                <a:sym typeface="+mn-ea"/>
              </a:rPr>
              <a:t>Witnesses and law enforcement officers compromised on SGBV cases</a:t>
            </a:r>
            <a:endParaRPr lang="en-US" sz="3400" dirty="0"/>
          </a:p>
          <a:p>
            <a:endParaRPr lang="en-US" dirty="0"/>
          </a:p>
        </p:txBody>
      </p:sp>
      <p:pic>
        <p:nvPicPr>
          <p:cNvPr id="7" name="Content Placeholder 5" descr="SGBV IEC material"/>
          <p:cNvPicPr>
            <a:picLocks noGrp="1" noChangeAspect="1"/>
          </p:cNvPicPr>
          <p:nvPr>
            <p:ph idx="1"/>
          </p:nvPr>
        </p:nvPicPr>
        <p:blipFill>
          <a:blip r:embed="rId2"/>
          <a:stretch>
            <a:fillRect/>
          </a:stretch>
        </p:blipFill>
        <p:spPr>
          <a:xfrm>
            <a:off x="5835650" y="987425"/>
            <a:ext cx="4866640" cy="48736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a:solidFill>
                  <a:schemeClr val="accent5">
                    <a:lumMod val="75000"/>
                  </a:schemeClr>
                </a:solidFill>
              </a:rPr>
              <a:t>Recommendations drawn from the SGBV forum...</a:t>
            </a:r>
          </a:p>
        </p:txBody>
      </p:sp>
      <p:sp>
        <p:nvSpPr>
          <p:cNvPr id="3" name="Content Placeholder 2"/>
          <p:cNvSpPr>
            <a:spLocks noGrp="1"/>
          </p:cNvSpPr>
          <p:nvPr>
            <p:ph idx="1"/>
          </p:nvPr>
        </p:nvSpPr>
        <p:spPr/>
        <p:txBody>
          <a:bodyPr>
            <a:normAutofit fontScale="92500"/>
          </a:bodyPr>
          <a:lstStyle/>
          <a:p>
            <a:r>
              <a:rPr lang="en-US"/>
              <a:t>FoH should focus on creating a linkage between the law enforcement officers and the community leadership as well as capacity strengthening for law enforcement officers</a:t>
            </a:r>
          </a:p>
          <a:p>
            <a:r>
              <a:rPr lang="en-US"/>
              <a:t>FoH to continuously advocate against SGBV and enhance response mechanisms towards support for survivors of SGBV in the county</a:t>
            </a:r>
          </a:p>
          <a:p>
            <a:r>
              <a:rPr lang="en-US"/>
              <a:t>Conduct social events between law enforcement officers and members of the community such as cultural events and football games as this will improve collaboration and coordination in advocating and responding to SGBV</a:t>
            </a:r>
          </a:p>
          <a:p>
            <a:r>
              <a:rPr lang="en-US"/>
              <a:t>Timely sharing and reporting of SGBV cases </a:t>
            </a:r>
          </a:p>
          <a:p>
            <a:r>
              <a:rPr lang="en-US"/>
              <a:t>Strengthen collaboration with male champions through coordination structures within the county</a:t>
            </a:r>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a:solidFill>
                  <a:schemeClr val="accent5">
                    <a:lumMod val="75000"/>
                  </a:schemeClr>
                </a:solidFill>
              </a:rPr>
              <a:t>Recommendations drawn from the FP forum...</a:t>
            </a:r>
          </a:p>
        </p:txBody>
      </p:sp>
      <p:sp>
        <p:nvSpPr>
          <p:cNvPr id="3" name="Content Placeholder 2"/>
          <p:cNvSpPr>
            <a:spLocks noGrp="1"/>
          </p:cNvSpPr>
          <p:nvPr>
            <p:ph idx="1"/>
          </p:nvPr>
        </p:nvSpPr>
        <p:spPr/>
        <p:txBody>
          <a:bodyPr/>
          <a:lstStyle/>
          <a:p>
            <a:r>
              <a:rPr lang="en-US"/>
              <a:t>Sensitize communities that decision-making on contraceptive use is the shared responsibility of both men and women in Garissa County.</a:t>
            </a:r>
          </a:p>
          <a:p>
            <a:r>
              <a:rPr lang="en-US"/>
              <a:t>Develop and implement male-involvement FP initiatives that address barriers to men’s supportive participation in reproductive health, including addressing men’s negative beliefs regarding contraceptive services.</a:t>
            </a:r>
          </a:p>
          <a:p>
            <a:r>
              <a:rPr lang="en-US"/>
              <a:t>Sheikhs and Imams, opinion leaders are critical allies in the spectrum of FP advocacy and should be engaged more in design, implementation and messaging of gender-lensed advocacy in FP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i="1">
                <a:ln/>
                <a:solidFill>
                  <a:schemeClr val="tx1"/>
                </a:solidFill>
                <a:effectLst>
                  <a:outerShdw blurRad="38100" dist="19050" dir="2700000" algn="tl" rotWithShape="0">
                    <a:schemeClr val="dk1">
                      <a:alpha val="40000"/>
                    </a:schemeClr>
                  </a:outerShdw>
                </a:effectLst>
              </a:rPr>
              <a:t>Activity photos</a:t>
            </a:r>
            <a:r>
              <a:rPr lang="en-US" b="1" i="1">
                <a:solidFill>
                  <a:schemeClr val="accent5">
                    <a:lumMod val="75000"/>
                  </a:schemeClr>
                </a:solidFill>
              </a:rPr>
              <a:t>...</a:t>
            </a:r>
          </a:p>
        </p:txBody>
      </p:sp>
      <p:sp>
        <p:nvSpPr>
          <p:cNvPr id="3" name="Text Placeholder 2"/>
          <p:cNvSpPr>
            <a:spLocks noGrp="1"/>
          </p:cNvSpPr>
          <p:nvPr>
            <p:ph type="body" idx="1"/>
          </p:nvPr>
        </p:nvSpPr>
        <p:spPr/>
        <p:txBody>
          <a:bodyPr>
            <a:noAutofit/>
          </a:bodyPr>
          <a:lstStyle/>
          <a:p>
            <a:r>
              <a:rPr lang="en-US" sz="1800">
                <a:sym typeface="+mn-ea"/>
              </a:rPr>
              <a:t>Sensitization forum for key opinion leaders and elders on SGBV </a:t>
            </a:r>
            <a:endParaRPr lang="en-US" sz="1800"/>
          </a:p>
        </p:txBody>
      </p:sp>
      <p:pic>
        <p:nvPicPr>
          <p:cNvPr id="8" name="Picture 1"/>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840740" y="2694305"/>
            <a:ext cx="5157470" cy="4164330"/>
          </a:xfrm>
          <a:prstGeom prst="rect">
            <a:avLst/>
          </a:prstGeom>
        </p:spPr>
      </p:pic>
      <p:sp>
        <p:nvSpPr>
          <p:cNvPr id="5" name="Text Placeholder 4"/>
          <p:cNvSpPr>
            <a:spLocks noGrp="1"/>
          </p:cNvSpPr>
          <p:nvPr>
            <p:ph type="body" sz="quarter" idx="3"/>
          </p:nvPr>
        </p:nvSpPr>
        <p:spPr/>
        <p:txBody>
          <a:bodyPr/>
          <a:lstStyle/>
          <a:p>
            <a:r>
              <a:rPr lang="en-US"/>
              <a:t>2 days training of FP champions</a:t>
            </a:r>
          </a:p>
        </p:txBody>
      </p:sp>
      <p:pic>
        <p:nvPicPr>
          <p:cNvPr id="6" name="Content Placeholder 5"/>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a:xfrm>
            <a:off x="6172835" y="2796540"/>
            <a:ext cx="5182235" cy="39452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E5B6B-25CC-C792-BE26-741B5E57B93E}"/>
              </a:ext>
            </a:extLst>
          </p:cNvPr>
          <p:cNvSpPr>
            <a:spLocks noGrp="1"/>
          </p:cNvSpPr>
          <p:nvPr>
            <p:ph type="title"/>
          </p:nvPr>
        </p:nvSpPr>
        <p:spPr/>
        <p:txBody>
          <a:bodyPr/>
          <a:lstStyle/>
          <a:p>
            <a:r>
              <a:rPr lang="en-US" dirty="0"/>
              <a:t>Success story</a:t>
            </a:r>
          </a:p>
        </p:txBody>
      </p:sp>
      <p:sp>
        <p:nvSpPr>
          <p:cNvPr id="3" name="Content Placeholder 2">
            <a:extLst>
              <a:ext uri="{FF2B5EF4-FFF2-40B4-BE49-F238E27FC236}">
                <a16:creationId xmlns:a16="http://schemas.microsoft.com/office/drawing/2014/main" id="{49F27E18-3803-CD36-4FE9-4632CE8C5736}"/>
              </a:ext>
            </a:extLst>
          </p:cNvPr>
          <p:cNvSpPr>
            <a:spLocks noGrp="1"/>
          </p:cNvSpPr>
          <p:nvPr>
            <p:ph idx="1"/>
          </p:nvPr>
        </p:nvSpPr>
        <p:spPr/>
        <p:txBody>
          <a:bodyPr/>
          <a:lstStyle/>
          <a:p>
            <a:r>
              <a:rPr lang="en-US" dirty="0"/>
              <a:t>https://youtu.be/f1xjqxlAAqM</a:t>
            </a:r>
          </a:p>
        </p:txBody>
      </p:sp>
    </p:spTree>
    <p:extLst>
      <p:ext uri="{BB962C8B-B14F-4D97-AF65-F5344CB8AC3E}">
        <p14:creationId xmlns:p14="http://schemas.microsoft.com/office/powerpoint/2010/main" val="3493969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cene3d>
              <a:camera prst="orthographicFront"/>
              <a:lightRig rig="threePt" dir="t"/>
            </a:scene3d>
          </a:bodyPr>
          <a:lstStyle/>
          <a:p>
            <a:r>
              <a:rPr lang="en-US" b="1" i="1" dirty="0">
                <a:ln/>
                <a:solidFill>
                  <a:schemeClr val="tx1"/>
                </a:solidFill>
                <a:effectLst>
                  <a:outerShdw blurRad="38100" dist="19050" dir="2700000" algn="tl" rotWithShape="0">
                    <a:schemeClr val="dk1">
                      <a:alpha val="40000"/>
                    </a:schemeClr>
                  </a:outerShdw>
                </a:effectLst>
              </a:rPr>
              <a:t>Our ask...</a:t>
            </a:r>
          </a:p>
        </p:txBody>
      </p:sp>
      <p:sp>
        <p:nvSpPr>
          <p:cNvPr id="3" name="Content Placeholder 2"/>
          <p:cNvSpPr>
            <a:spLocks noGrp="1"/>
          </p:cNvSpPr>
          <p:nvPr>
            <p:ph idx="1"/>
          </p:nvPr>
        </p:nvSpPr>
        <p:spPr>
          <a:xfrm>
            <a:off x="838200" y="1825625"/>
            <a:ext cx="10515600" cy="2898775"/>
          </a:xfrm>
        </p:spPr>
        <p:txBody>
          <a:bodyPr>
            <a:normAutofit/>
          </a:bodyPr>
          <a:lstStyle/>
          <a:p>
            <a:r>
              <a:rPr lang="en-US" sz="3600" i="1" dirty="0">
                <a:latin typeface="+mj-lt"/>
              </a:rPr>
              <a:t>More resources for further advocacy on male involvement on child spacing, SGBV and early marriage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9600" dirty="0">
                <a:solidFill>
                  <a:srgbClr val="FF99FF"/>
                </a:solidFill>
                <a:latin typeface="Edwardian Script ITC" panose="030303020407070D0804" pitchFamily="66" charset="0"/>
              </a:rPr>
              <a:t>			</a:t>
            </a:r>
            <a:r>
              <a:rPr lang="en-US" sz="9600" b="1" dirty="0">
                <a:solidFill>
                  <a:srgbClr val="0070C0"/>
                </a:solidFill>
                <a:latin typeface="Edwardian Script ITC" panose="030303020407070D0804" pitchFamily="66"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1594</Words>
  <Application>Microsoft Office PowerPoint</Application>
  <PresentationFormat>Widescreen</PresentationFormat>
  <Paragraphs>245</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Edwardian Script ITC</vt:lpstr>
      <vt:lpstr>Ink Free</vt:lpstr>
      <vt:lpstr>Office Theme</vt:lpstr>
      <vt:lpstr>PowerPoint Presentation</vt:lpstr>
      <vt:lpstr>Who are we.......</vt:lpstr>
      <vt:lpstr>Reason for being....</vt:lpstr>
      <vt:lpstr>PowerPoint Presentation</vt:lpstr>
      <vt:lpstr>PowerPoint Presentation</vt:lpstr>
      <vt:lpstr>PowerPoint Presentation</vt:lpstr>
      <vt:lpstr>State of Population and Maternal Health in Garissa County 2018</vt:lpstr>
      <vt:lpstr>Garissa County FP Landscape </vt:lpstr>
      <vt:lpstr>Advocacy for child spacing in Garissa County</vt:lpstr>
      <vt:lpstr>PowerPoint Presentation</vt:lpstr>
      <vt:lpstr>PowerPoint Presentation</vt:lpstr>
      <vt:lpstr>  Details of Advocacy activities cont’  </vt:lpstr>
      <vt:lpstr> Details of Advocacy activities cont’ </vt:lpstr>
      <vt:lpstr>   Gender-lensed Advocacy Project</vt:lpstr>
      <vt:lpstr>Gender-lensed Advocacy in RMNCAH-N</vt:lpstr>
      <vt:lpstr> Gender-lensed Advocacy Against SGBV</vt:lpstr>
      <vt:lpstr>FP Advocacy achievements</vt:lpstr>
      <vt:lpstr>Achievements cont’</vt:lpstr>
      <vt:lpstr>Garissa County post partum FP data</vt:lpstr>
      <vt:lpstr>Achievements...</vt:lpstr>
      <vt:lpstr>Challenges faced during FP advocacy...</vt:lpstr>
      <vt:lpstr>Challenges faced during FP advocacy......</vt:lpstr>
      <vt:lpstr>Recommendations drawn from the SGBV forum...</vt:lpstr>
      <vt:lpstr>Recommendations drawn from the FP forum...</vt:lpstr>
      <vt:lpstr>Activity photos...</vt:lpstr>
      <vt:lpstr>Success story</vt:lpstr>
      <vt:lpstr>Our ask...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Fountain of HOPE</dc:title>
  <dc:creator>test</dc:creator>
  <cp:lastModifiedBy>Rebecca Wambua</cp:lastModifiedBy>
  <cp:revision>90</cp:revision>
  <dcterms:created xsi:type="dcterms:W3CDTF">2022-02-03T07:39:00Z</dcterms:created>
  <dcterms:modified xsi:type="dcterms:W3CDTF">2024-05-02T09:05:49Z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45E2C260266E425483E9480AA4AC25D0</vt:lpwstr>
  </property>
  <property fmtid="{D5CDD505-2E9C-101B-9397-08002B2CF9AE}" pid="3" name="KSOProductBuildVer">
    <vt:lpwstr>1033-11.2.0.11341</vt:lpwstr>
  </property>
</Properties>
</file>